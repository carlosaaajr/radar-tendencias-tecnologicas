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4846320"/>
            <a:ext cx="2926080" cy="292608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446227" y="5314493"/>
            <a:ext cx="1989734" cy="1989734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7315" y="5753405"/>
            <a:ext cx="1111910" cy="1111910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7160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5773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SENAI DO FUTURO — DESAFIO IA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 de Tendências Tecnológicas</a:t>
            </a:r>
            <a:endParaRPr lang="en-US" sz="4200" dirty="0"/>
          </a:p>
        </p:txBody>
      </p:sp>
      <p:sp>
        <p:nvSpPr>
          <p:cNvPr id="12" name="Text 9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painel executivo que só afirma o que consegue provar.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5943600"/>
            <a:ext cx="2926080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Araújo Jr.  ·  Apresentação técnica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33711" y="4700016"/>
            <a:ext cx="3218688" cy="321868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8701" y="5215006"/>
            <a:ext cx="2188708" cy="2188708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31504" y="5697809"/>
            <a:ext cx="1223101" cy="122310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Tendências tecnológicas, decisões atrasadas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" cy="2240280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7452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 diretoria de uma empresa industrial deseja acompanhar tendências emergentes que possam impactar seus negócios nos próximos anos.”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recorte literal do desafio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4" y="206654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14032" y="193852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manual e dispersa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221284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tendência exige garimpar dezenas de fontes na mão, sem padrão.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92240" y="306324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316382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14032" y="303580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14032" y="331012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de IA genérico não dá pra citar com segurança em reunião de diretoria.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92240" y="41605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426110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4032" y="413308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consolidar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114032" y="440740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hoje depende de tempo humano — decisão estratégica sempre chega atrasada.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16975" y="-2743200"/>
            <a:ext cx="5852160" cy="585216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53321" y="-1806854"/>
            <a:ext cx="3979469" cy="397946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31145" y="-929030"/>
            <a:ext cx="2223821" cy="222382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tema livre a painel executivo, em minutos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34096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48396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668" y="27541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7812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Tema livre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7812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"Edge AI"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3047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3" name="Shape 10"/>
          <p:cNvSpPr/>
          <p:nvPr/>
        </p:nvSpPr>
        <p:spPr>
          <a:xfrm>
            <a:off x="4678528" y="2377440"/>
            <a:ext cx="2834640" cy="1645920"/>
          </a:xfrm>
          <a:prstGeom prst="rect">
            <a:avLst/>
          </a:prstGeom>
          <a:solidFill>
            <a:srgbClr val="12332C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2152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2228" y="27541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1568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81568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+ síntese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6803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9" name="Shape 15"/>
          <p:cNvSpPr/>
          <p:nvPr/>
        </p:nvSpPr>
        <p:spPr>
          <a:xfrm>
            <a:off x="801608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15908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9788" y="27541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324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Painel executivo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15324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seções + evidências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é rastreável a uma evidência real </a:t>
            </a:r>
            <a:pPr algn="ctr" indent="0" marL="0">
              <a:buNone/>
            </a:pPr>
            <a:r>
              <a:rPr lang="en-US" sz="17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ou é marcada como inferência.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FUNCIONA — CONFORME O DESAFIO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etapas, do enunciado à entrega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090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8950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32978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0430" y="3146450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950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Definição do tema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8950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informa uma tendência ou tecnologia em texto livre.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4360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Shape 8"/>
          <p:cNvSpPr/>
          <p:nvPr/>
        </p:nvSpPr>
        <p:spPr>
          <a:xfrm>
            <a:off x="447278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0138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94166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310" y="3146450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0138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138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públicas e confiáveis: científicas, mercado, notícia, corporativa, patente.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75548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8" name="Shape 14"/>
          <p:cNvSpPr/>
          <p:nvPr/>
        </p:nvSpPr>
        <p:spPr>
          <a:xfrm>
            <a:off x="808466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31326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1055354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190" y="3146450"/>
            <a:ext cx="281635" cy="28163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326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Consolidação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1326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10 seções com grau de suporte calculado em código.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Streamlit ao Cosmos DB — visão completa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região Brazil South — colocalizados, zero latência cross-region.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32608" y="1810512"/>
            <a:ext cx="612648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169768" y="18105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Azure App Service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967832" y="2404872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8" name="Shape 6"/>
          <p:cNvSpPr/>
          <p:nvPr/>
        </p:nvSpPr>
        <p:spPr>
          <a:xfrm>
            <a:off x="3032608" y="2697480"/>
            <a:ext cx="6126480" cy="502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69768" y="26974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Orquestrador (Python)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5967832" y="3291840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Text 9"/>
          <p:cNvSpPr/>
          <p:nvPr/>
        </p:nvSpPr>
        <p:spPr>
          <a:xfrm>
            <a:off x="6324448" y="3264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concorrente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32608" y="3584448"/>
            <a:ext cx="6126480" cy="5943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95848" y="3675888"/>
            <a:ext cx="0" cy="41148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6976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+ OpenAlex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(coleta acadêmica)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Coletor — Foundry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4 perspectivas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967832" y="4270248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4242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numerado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032608" y="4562856"/>
            <a:ext cx="6126480" cy="59436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95848" y="4654296"/>
            <a:ext cx="0" cy="411480"/>
          </a:xfrm>
          <a:prstGeom prst="line">
            <a:avLst/>
          </a:prstGeom>
          <a:noFill/>
          <a:ln w="12700">
            <a:solidFill>
              <a:srgbClr val="00D9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76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Sintetizador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Foundry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3300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suporte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(código determinístico)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5400000">
            <a:off x="5967832" y="5248656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23" name="Shape 21"/>
          <p:cNvSpPr/>
          <p:nvPr/>
        </p:nvSpPr>
        <p:spPr>
          <a:xfrm>
            <a:off x="3032608" y="5541264"/>
            <a:ext cx="6126480" cy="5029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169768" y="5541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— documento único por relatório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59088" y="2061972"/>
            <a:ext cx="320040" cy="0"/>
          </a:xfrm>
          <a:prstGeom prst="line">
            <a:avLst/>
          </a:prstGeom>
          <a:noFill/>
          <a:ln w="12700">
            <a:solidFill>
              <a:srgbClr val="8CA0A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479128" y="1673352"/>
            <a:ext cx="2072488" cy="8686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43720" y="1673352"/>
            <a:ext cx="174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Histórico: reabre relatórios direto do Cosmos, sem nova coleta.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02191" y="-2157984"/>
            <a:ext cx="4681728" cy="468172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1268" y="-1408908"/>
            <a:ext cx="3183575" cy="3183575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53527" y="-706648"/>
            <a:ext cx="1779057" cy="177905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DIFERENCIAL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Quem gradua a confiança é código, não o modelo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4040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4040" y="1965960"/>
            <a:ext cx="2468880" cy="109728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9" name="Text 7"/>
          <p:cNvSpPr/>
          <p:nvPr/>
        </p:nvSpPr>
        <p:spPr>
          <a:xfrm>
            <a:off x="9112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1200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 evidências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≥2 tipos de fonte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8952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7BC0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8952" y="1965960"/>
            <a:ext cx="2468880" cy="109728"/>
          </a:xfrm>
          <a:prstGeom prst="rect">
            <a:avLst/>
          </a:prstGeom>
          <a:solidFill>
            <a:srgbClr val="7BC063"/>
          </a:solidFill>
          <a:ln/>
        </p:spPr>
      </p:sp>
      <p:sp>
        <p:nvSpPr>
          <p:cNvPr id="13" name="Text 11"/>
          <p:cNvSpPr/>
          <p:nvPr/>
        </p:nvSpPr>
        <p:spPr>
          <a:xfrm>
            <a:off x="3636112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C0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6112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evidências,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≥4 com 1 tipo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23864" y="1965960"/>
            <a:ext cx="2468880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6361024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1024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evidência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8776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8CA0A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48776" y="1965960"/>
            <a:ext cx="2468880" cy="109728"/>
          </a:xfrm>
          <a:prstGeom prst="rect">
            <a:avLst/>
          </a:prstGeom>
          <a:solidFill>
            <a:srgbClr val="8CA0A8"/>
          </a:solidFill>
          <a:ln/>
        </p:spPr>
      </p:sp>
      <p:sp>
        <p:nvSpPr>
          <p:cNvPr id="21" name="Text 19"/>
          <p:cNvSpPr/>
          <p:nvPr/>
        </p:nvSpPr>
        <p:spPr>
          <a:xfrm>
            <a:off x="9085936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INFERÊNCIA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85936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evidências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 explicitamente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05156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599432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4720133"/>
            <a:ext cx="307238" cy="30723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645920" y="4480560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Sintetizador só pode </a:t>
            </a:r>
            <a:pPr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citar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evidências. Um módulo separado, puro e testado </a:t>
            </a:r>
            <a:pPr indent="0" marL="0">
              <a:buNone/>
            </a:pPr>
            <a:r>
              <a:rPr lang="en-US" sz="13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testes unitários)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calcula o grau — e rebaixa para inferência qualquer citação de id inexistente.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perguntas concorrentes, 5 tipos de fonte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Perspectivas (estilo STORM) — rodam em paralelo: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432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Econômica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461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490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5400000">
            <a:off x="2935224" y="4288536"/>
            <a:ext cx="256032" cy="219456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evidências deduplicado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93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 spike: ~30s/pergunta — concorrência é obrigatória p/ caber em 5 min (SC-001).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 cobertos: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386584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31152" y="2258568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Científica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931152" y="2532888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OpenAlex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09360" y="2907792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00837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31152" y="2880360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31152" y="3154680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309360" y="3529584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630168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931152" y="3502152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931152" y="3776472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imprensa especializada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309360" y="4151376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4251960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31152" y="4123944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Corporativa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6931152" y="4398264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309360" y="4773168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4873752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931152" y="4745736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6931152" y="5020056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via busca</a:t>
            </a:r>
            <a:endParaRPr lang="en-US" sz="1200" dirty="0"/>
          </a:p>
        </p:txBody>
      </p:sp>
      <p:sp>
        <p:nvSpPr>
          <p:cNvPr id="38" name="Text 3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sistema em funcionamento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356616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730088" y="2880360"/>
            <a:ext cx="731520" cy="7315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968" y="3063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703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inserir GIF de navegação pelo sistema aqui 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Gerar painel novo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68698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Reabrir do histórico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7317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Explorar evidências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REAIS — SMOKE TEST EM PRODUÇÃO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2 temas do desafio, de ponta a ponta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53664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53664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53664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53664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5148072"/>
            <a:ext cx="219456" cy="21945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71600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482264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416" y="514807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9464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324448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598768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Robôs Humanoides p/ Indústria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598768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36,8s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6598768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938031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8938031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98768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4"/>
          <p:cNvSpPr/>
          <p:nvPr/>
        </p:nvSpPr>
        <p:spPr>
          <a:xfrm>
            <a:off x="6598768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8938031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30" name="Text 26"/>
          <p:cNvSpPr/>
          <p:nvPr/>
        </p:nvSpPr>
        <p:spPr>
          <a:xfrm>
            <a:off x="8938031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598768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598768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920" y="5148072"/>
            <a:ext cx="219456" cy="21945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055968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66631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783" y="5148072"/>
            <a:ext cx="219456" cy="21945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623831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MATURIDADE DE ENGENHARIA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de 6 bugs reais — corrigidos antes da banca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9992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malformado derrubava a coleta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campo nulo do OpenAlex escapava sem tratamento e abortava a análise inteira.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99178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27778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62" y="299923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7778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migrou para HTTPS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27778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não seguido pelo cliente HTTP — coleta acadêmica degradava 100% das vezes.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627778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58277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6877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299923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6877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API não tratado na síntese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86877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rate limit real do modelo escapava do orquestrador e travava o processo.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86877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" y="53949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Outros 3 vieram da revisão de código automatizada — lista completa em docs/critical-review.md. Nenhum apareceu em testes mockados, só contra APIs reais.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CUSTOS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custa operar isso de verdade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1323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~US$14-15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fixo por mês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 Service + Cosmos)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1" y="21323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~US$0,20-0,50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475488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análise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(tokens + busca)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732520" y="1874520"/>
            <a:ext cx="2819095" cy="24688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961120" y="2057400"/>
            <a:ext cx="2361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B1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serverless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/ Web Search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token e por chamada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exato pendente de confirmação via Azure Cost Management — estimativa declarada, não inventada.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VIESES E 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sabemos que não resolvemos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21122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fonte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61872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 pagas só entram pelo material público que elas divulgam.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48386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idioma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61872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predominantemente em inglês; painel sempre em português.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70168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752" y="2112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1960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modelo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991960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Mitigado: só afirma com citação; grau nunca é autoavaliado pelo LLM.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370168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752" y="3483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1960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sem API dedicada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991960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Cobertas só por sinais via busca — EPO OPS avaliada e adiada por prazo.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074920"/>
            <a:ext cx="10911535" cy="9601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4400" y="5285232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395874"/>
            <a:ext cx="281635" cy="28163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5184648"/>
            <a:ext cx="9677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viés aqui é “resolvido” — são mitigados por desenho (citação obrigatória, graduação em código) e documentados honestamente para a arguição.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Evoluções priorizadas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92542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184" y="335676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dedicadas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EPO OPS — cobertura mundial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9404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11866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508" y="33567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6564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Multiusuário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96564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Auth / Entra ID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31190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1832" y="335676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15888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415888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com timer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98051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50513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156" y="335676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35211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de custo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9235211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por consulta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2084832" y="3675888"/>
            <a:ext cx="5266944" cy="5266944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42121" y="4518599"/>
            <a:ext cx="3581522" cy="3581522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452079" y="5308641"/>
            <a:ext cx="2001439" cy="2001439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21259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3063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Obrigado.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Perguntas, críticas e sugestões são bem-vindas.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947008" y="4709160"/>
            <a:ext cx="365760" cy="36576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160" y="478231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04208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github.com/Carlosaaajr/radar-tendencias-tecnologicas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Tendências Tecnológicas</dc:title>
  <dc:subject>PptxGenJS Presentation</dc:subject>
  <dc:creator>Carlos Araújo Jr.</dc:creator>
  <cp:lastModifiedBy>Carlos Araújo Jr.</cp:lastModifiedBy>
  <cp:revision>1</cp:revision>
  <dcterms:created xsi:type="dcterms:W3CDTF">2026-07-06T14:49:40Z</dcterms:created>
  <dcterms:modified xsi:type="dcterms:W3CDTF">2026-07-06T14:49:40Z</dcterms:modified>
</cp:coreProperties>
</file>