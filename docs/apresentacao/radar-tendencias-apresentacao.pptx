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B356EA-49D6-44B9-824B-C7FE62B895C3}" v="4" dt="2026-07-07T16:41:12.9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Araújo" userId="b2c4e7b3d374cd22" providerId="LiveId" clId="{CBC3F478-1899-44E5-9FBF-9CC91F9DC4A1}"/>
    <pc:docChg chg="custSel addSld delSld modSld">
      <pc:chgData name="Carlos Araújo" userId="b2c4e7b3d374cd22" providerId="LiveId" clId="{CBC3F478-1899-44E5-9FBF-9CC91F9DC4A1}" dt="2026-07-07T18:03:17.026" v="215" actId="20577"/>
      <pc:docMkLst>
        <pc:docMk/>
      </pc:docMkLst>
      <pc:sldChg chg="modSp mod">
        <pc:chgData name="Carlos Araújo" userId="b2c4e7b3d374cd22" providerId="LiveId" clId="{CBC3F478-1899-44E5-9FBF-9CC91F9DC4A1}" dt="2026-07-07T16:41:43.410" v="29" actId="790"/>
        <pc:sldMkLst>
          <pc:docMk/>
          <pc:sldMk cId="0" sldId="256"/>
        </pc:sldMkLst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6"/>
            <ac:spMk id="2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6"/>
            <ac:spMk id="3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6"/>
            <ac:spMk id="4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6"/>
            <ac:spMk id="5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6"/>
            <ac:spMk id="7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6"/>
            <ac:spMk id="11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6"/>
            <ac:spMk id="12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6"/>
            <ac:spMk id="13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6"/>
            <ac:spMk id="14" creationId="{00000000-0000-0000-0000-000000000000}"/>
          </ac:spMkLst>
        </pc:spChg>
      </pc:sldChg>
      <pc:sldChg chg="addSp delSp modSp mod">
        <pc:chgData name="Carlos Araújo" userId="b2c4e7b3d374cd22" providerId="LiveId" clId="{CBC3F478-1899-44E5-9FBF-9CC91F9DC4A1}" dt="2026-07-07T16:41:43.410" v="29" actId="790"/>
        <pc:sldMkLst>
          <pc:docMk/>
          <pc:sldMk cId="0" sldId="257"/>
        </pc:sldMkLst>
        <pc:spChg chg="del">
          <ac:chgData name="Carlos Araújo" userId="b2c4e7b3d374cd22" providerId="LiveId" clId="{CBC3F478-1899-44E5-9FBF-9CC91F9DC4A1}" dt="2026-07-07T16:41:09.993" v="2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Carlos Araújo" userId="b2c4e7b3d374cd22" providerId="LiveId" clId="{CBC3F478-1899-44E5-9FBF-9CC91F9DC4A1}" dt="2026-07-07T16:41:09.993" v="2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Carlos Araújo" userId="b2c4e7b3d374cd22" providerId="LiveId" clId="{CBC3F478-1899-44E5-9FBF-9CC91F9DC4A1}" dt="2026-07-07T16:41:09.993" v="2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Carlos Araújo" userId="b2c4e7b3d374cd22" providerId="LiveId" clId="{CBC3F478-1899-44E5-9FBF-9CC91F9DC4A1}" dt="2026-07-07T16:41:09.993" v="2" actId="478"/>
          <ac:spMkLst>
            <pc:docMk/>
            <pc:sldMk cId="0" sldId="257"/>
            <ac:spMk id="7" creationId="{00000000-0000-0000-0000-000000000000}"/>
          </ac:spMkLst>
        </pc:spChg>
        <pc:spChg chg="del">
          <ac:chgData name="Carlos Araújo" userId="b2c4e7b3d374cd22" providerId="LiveId" clId="{CBC3F478-1899-44E5-9FBF-9CC91F9DC4A1}" dt="2026-07-07T16:41:09.993" v="2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Carlos Araújo" userId="b2c4e7b3d374cd22" providerId="LiveId" clId="{CBC3F478-1899-44E5-9FBF-9CC91F9DC4A1}" dt="2026-07-07T16:41:09.993" v="2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Carlos Araújo" userId="b2c4e7b3d374cd22" providerId="LiveId" clId="{CBC3F478-1899-44E5-9FBF-9CC91F9DC4A1}" dt="2026-07-07T16:41:09.993" v="2" actId="478"/>
          <ac:spMkLst>
            <pc:docMk/>
            <pc:sldMk cId="0" sldId="257"/>
            <ac:spMk id="16" creationId="{00000000-0000-0000-0000-000000000000}"/>
          </ac:spMkLst>
        </pc:spChg>
        <pc:spChg chg="del">
          <ac:chgData name="Carlos Araújo" userId="b2c4e7b3d374cd22" providerId="LiveId" clId="{CBC3F478-1899-44E5-9FBF-9CC91F9DC4A1}" dt="2026-07-07T16:41:09.993" v="2" actId="47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Carlos Araújo" userId="b2c4e7b3d374cd22" providerId="LiveId" clId="{CBC3F478-1899-44E5-9FBF-9CC91F9DC4A1}" dt="2026-07-07T16:41:09.993" v="2" actId="478"/>
          <ac:spMkLst>
            <pc:docMk/>
            <pc:sldMk cId="0" sldId="257"/>
            <ac:spMk id="20" creationId="{00000000-0000-0000-0000-000000000000}"/>
          </ac:spMkLst>
        </pc:spChg>
        <pc:spChg chg="del">
          <ac:chgData name="Carlos Araújo" userId="b2c4e7b3d374cd22" providerId="LiveId" clId="{CBC3F478-1899-44E5-9FBF-9CC91F9DC4A1}" dt="2026-07-07T16:41:09.993" v="2" actId="478"/>
          <ac:spMkLst>
            <pc:docMk/>
            <pc:sldMk cId="0" sldId="257"/>
            <ac:spMk id="23" creationId="{00000000-0000-0000-0000-000000000000}"/>
          </ac:spMkLst>
        </pc:spChg>
        <pc:spChg chg="add mod">
          <ac:chgData name="Carlos Araújo" userId="b2c4e7b3d374cd22" providerId="LiveId" clId="{CBC3F478-1899-44E5-9FBF-9CC91F9DC4A1}" dt="2026-07-07T16:41:43.410" v="29" actId="790"/>
          <ac:spMkLst>
            <pc:docMk/>
            <pc:sldMk cId="0" sldId="257"/>
            <ac:spMk id="25" creationId="{CAB2E86A-662E-BA79-FF97-24659B5851CF}"/>
          </ac:spMkLst>
        </pc:spChg>
        <pc:spChg chg="add mod">
          <ac:chgData name="Carlos Araújo" userId="b2c4e7b3d374cd22" providerId="LiveId" clId="{CBC3F478-1899-44E5-9FBF-9CC91F9DC4A1}" dt="2026-07-07T16:41:43.410" v="29" actId="790"/>
          <ac:spMkLst>
            <pc:docMk/>
            <pc:sldMk cId="0" sldId="257"/>
            <ac:spMk id="27" creationId="{65481EA5-4D01-115E-A667-42AD5B2E2797}"/>
          </ac:spMkLst>
        </pc:spChg>
        <pc:spChg chg="add mod">
          <ac:chgData name="Carlos Araújo" userId="b2c4e7b3d374cd22" providerId="LiveId" clId="{CBC3F478-1899-44E5-9FBF-9CC91F9DC4A1}" dt="2026-07-07T16:41:43.410" v="29" actId="790"/>
          <ac:spMkLst>
            <pc:docMk/>
            <pc:sldMk cId="0" sldId="257"/>
            <ac:spMk id="29" creationId="{AE23340C-68B5-D967-E556-EC3727CDA5C9}"/>
          </ac:spMkLst>
        </pc:spChg>
        <pc:spChg chg="add mod">
          <ac:chgData name="Carlos Araújo" userId="b2c4e7b3d374cd22" providerId="LiveId" clId="{CBC3F478-1899-44E5-9FBF-9CC91F9DC4A1}" dt="2026-07-07T16:41:43.410" v="29" actId="790"/>
          <ac:spMkLst>
            <pc:docMk/>
            <pc:sldMk cId="0" sldId="257"/>
            <ac:spMk id="31" creationId="{575DB3DB-84ED-1C69-4BB5-BF47E5EC8389}"/>
          </ac:spMkLst>
        </pc:spChg>
        <pc:spChg chg="add mod">
          <ac:chgData name="Carlos Araújo" userId="b2c4e7b3d374cd22" providerId="LiveId" clId="{CBC3F478-1899-44E5-9FBF-9CC91F9DC4A1}" dt="2026-07-07T16:41:43.410" v="29" actId="790"/>
          <ac:spMkLst>
            <pc:docMk/>
            <pc:sldMk cId="0" sldId="257"/>
            <ac:spMk id="37" creationId="{A77C1514-15B3-2E04-C8B5-DE261FEB8329}"/>
          </ac:spMkLst>
        </pc:spChg>
        <pc:spChg chg="add mod">
          <ac:chgData name="Carlos Araújo" userId="b2c4e7b3d374cd22" providerId="LiveId" clId="{CBC3F478-1899-44E5-9FBF-9CC91F9DC4A1}" dt="2026-07-07T16:41:43.410" v="29" actId="790"/>
          <ac:spMkLst>
            <pc:docMk/>
            <pc:sldMk cId="0" sldId="257"/>
            <ac:spMk id="45" creationId="{761E11D6-D2BC-8FFF-0543-035C3AAE6517}"/>
          </ac:spMkLst>
        </pc:spChg>
        <pc:spChg chg="add mod">
          <ac:chgData name="Carlos Araújo" userId="b2c4e7b3d374cd22" providerId="LiveId" clId="{CBC3F478-1899-44E5-9FBF-9CC91F9DC4A1}" dt="2026-07-07T16:41:43.410" v="29" actId="790"/>
          <ac:spMkLst>
            <pc:docMk/>
            <pc:sldMk cId="0" sldId="257"/>
            <ac:spMk id="51" creationId="{E758D74B-DD1C-70D0-E593-1BDE9BFB7670}"/>
          </ac:spMkLst>
        </pc:spChg>
        <pc:spChg chg="add mod">
          <ac:chgData name="Carlos Araújo" userId="b2c4e7b3d374cd22" providerId="LiveId" clId="{CBC3F478-1899-44E5-9FBF-9CC91F9DC4A1}" dt="2026-07-07T16:41:43.410" v="29" actId="790"/>
          <ac:spMkLst>
            <pc:docMk/>
            <pc:sldMk cId="0" sldId="257"/>
            <ac:spMk id="55" creationId="{7BB6228B-B61E-C785-3567-641C5AACF472}"/>
          </ac:spMkLst>
        </pc:spChg>
        <pc:spChg chg="add mod">
          <ac:chgData name="Carlos Araújo" userId="b2c4e7b3d374cd22" providerId="LiveId" clId="{CBC3F478-1899-44E5-9FBF-9CC91F9DC4A1}" dt="2026-07-07T16:41:43.410" v="29" actId="790"/>
          <ac:spMkLst>
            <pc:docMk/>
            <pc:sldMk cId="0" sldId="257"/>
            <ac:spMk id="59" creationId="{A665DFE0-067D-D336-85B8-F139B46273AE}"/>
          </ac:spMkLst>
        </pc:spChg>
        <pc:spChg chg="add mod">
          <ac:chgData name="Carlos Araújo" userId="b2c4e7b3d374cd22" providerId="LiveId" clId="{CBC3F478-1899-44E5-9FBF-9CC91F9DC4A1}" dt="2026-07-07T16:41:43.410" v="29" actId="790"/>
          <ac:spMkLst>
            <pc:docMk/>
            <pc:sldMk cId="0" sldId="257"/>
            <ac:spMk id="63" creationId="{317C808F-FFC2-EBCF-C88F-6AB848EA03F2}"/>
          </ac:spMkLst>
        </pc:spChg>
      </pc:sldChg>
      <pc:sldChg chg="modSp mod">
        <pc:chgData name="Carlos Araújo" userId="b2c4e7b3d374cd22" providerId="LiveId" clId="{CBC3F478-1899-44E5-9FBF-9CC91F9DC4A1}" dt="2026-07-07T16:41:43.410" v="29" actId="790"/>
        <pc:sldMkLst>
          <pc:docMk/>
          <pc:sldMk cId="0" sldId="258"/>
        </pc:sldMkLst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8"/>
            <ac:spMk id="2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8"/>
            <ac:spMk id="4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8"/>
            <ac:spMk id="7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8"/>
            <ac:spMk id="8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38.186" v="28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8"/>
            <ac:spMk id="12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8"/>
            <ac:spMk id="14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8"/>
            <ac:spMk id="22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8"/>
            <ac:spMk id="24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8"/>
            <ac:spMk id="25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8"/>
            <ac:spMk id="26" creationId="{00000000-0000-0000-0000-000000000000}"/>
          </ac:spMkLst>
        </pc:spChg>
      </pc:sldChg>
      <pc:sldChg chg="modSp mod">
        <pc:chgData name="Carlos Araújo" userId="b2c4e7b3d374cd22" providerId="LiveId" clId="{CBC3F478-1899-44E5-9FBF-9CC91F9DC4A1}" dt="2026-07-07T16:41:43.410" v="29" actId="790"/>
        <pc:sldMkLst>
          <pc:docMk/>
          <pc:sldMk cId="0" sldId="259"/>
        </pc:sldMkLst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9"/>
            <ac:spMk id="6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9"/>
            <ac:spMk id="8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9"/>
            <ac:spMk id="15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9"/>
            <ac:spMk id="17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9"/>
            <ac:spMk id="18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9"/>
            <ac:spMk id="19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59"/>
            <ac:spMk id="20" creationId="{00000000-0000-0000-0000-000000000000}"/>
          </ac:spMkLst>
        </pc:spChg>
      </pc:sldChg>
      <pc:sldChg chg="modSp mod">
        <pc:chgData name="Carlos Araújo" userId="b2c4e7b3d374cd22" providerId="LiveId" clId="{CBC3F478-1899-44E5-9FBF-9CC91F9DC4A1}" dt="2026-07-07T16:41:59.895" v="32" actId="6549"/>
        <pc:sldMkLst>
          <pc:docMk/>
          <pc:sldMk cId="0" sldId="260"/>
        </pc:sldMkLst>
        <pc:spChg chg="mod">
          <ac:chgData name="Carlos Araújo" userId="b2c4e7b3d374cd22" providerId="LiveId" clId="{CBC3F478-1899-44E5-9FBF-9CC91F9DC4A1}" dt="2026-07-07T16:41:59.895" v="32" actId="6549"/>
          <ac:spMkLst>
            <pc:docMk/>
            <pc:sldMk cId="0" sldId="260"/>
            <ac:spMk id="4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0"/>
            <ac:spMk id="11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0"/>
            <ac:spMk id="16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0"/>
            <ac:spMk id="17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0"/>
            <ac:spMk id="18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0"/>
            <ac:spMk id="22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0"/>
            <ac:spMk id="23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0"/>
            <ac:spMk id="24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0"/>
            <ac:spMk id="27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0"/>
            <ac:spMk id="28" creationId="{00000000-0000-0000-0000-000000000000}"/>
          </ac:spMkLst>
        </pc:spChg>
      </pc:sldChg>
      <pc:sldChg chg="modSp mod">
        <pc:chgData name="Carlos Araújo" userId="b2c4e7b3d374cd22" providerId="LiveId" clId="{CBC3F478-1899-44E5-9FBF-9CC91F9DC4A1}" dt="2026-07-07T16:43:25.957" v="126" actId="20577"/>
        <pc:sldMkLst>
          <pc:docMk/>
          <pc:sldMk cId="0" sldId="261"/>
        </pc:sldMkLst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1"/>
            <ac:spMk id="2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2:20.225" v="35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1"/>
            <ac:spMk id="5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1"/>
            <ac:spMk id="7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2:46.511" v="90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1"/>
            <ac:spMk id="9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3:25.957" v="126" actId="2057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1"/>
            <ac:spMk id="17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1"/>
            <ac:spMk id="20" creationId="{00000000-0000-0000-0000-000000000000}"/>
          </ac:spMkLst>
        </pc:spChg>
      </pc:sldChg>
      <pc:sldChg chg="modSp mod">
        <pc:chgData name="Carlos Araújo" userId="b2c4e7b3d374cd22" providerId="LiveId" clId="{CBC3F478-1899-44E5-9FBF-9CC91F9DC4A1}" dt="2026-07-07T16:44:09.710" v="129" actId="6549"/>
        <pc:sldMkLst>
          <pc:docMk/>
          <pc:sldMk cId="0" sldId="262"/>
        </pc:sldMkLst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2"/>
            <ac:spMk id="3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2"/>
            <ac:spMk id="5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2"/>
            <ac:spMk id="8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2"/>
            <ac:spMk id="9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2"/>
            <ac:spMk id="14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2"/>
            <ac:spMk id="16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2"/>
            <ac:spMk id="17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2"/>
            <ac:spMk id="21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4:09.710" v="129" actId="6549"/>
          <ac:spMkLst>
            <pc:docMk/>
            <pc:sldMk cId="0" sldId="262"/>
            <ac:spMk id="26" creationId="{00000000-0000-0000-0000-000000000000}"/>
          </ac:spMkLst>
        </pc:spChg>
      </pc:sldChg>
      <pc:sldChg chg="modSp mod">
        <pc:chgData name="Carlos Araújo" userId="b2c4e7b3d374cd22" providerId="LiveId" clId="{CBC3F478-1899-44E5-9FBF-9CC91F9DC4A1}" dt="2026-07-07T16:41:43.410" v="29" actId="790"/>
        <pc:sldMkLst>
          <pc:docMk/>
          <pc:sldMk cId="0" sldId="263"/>
        </pc:sldMkLst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3"/>
            <ac:spMk id="4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3"/>
            <ac:spMk id="8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3"/>
            <ac:spMk id="14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3"/>
            <ac:spMk id="15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3"/>
            <ac:spMk id="17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3"/>
            <ac:spMk id="22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3"/>
            <ac:spMk id="25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3"/>
            <ac:spMk id="30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3"/>
            <ac:spMk id="34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3"/>
            <ac:spMk id="38" creationId="{00000000-0000-0000-0000-000000000000}"/>
          </ac:spMkLst>
        </pc:spChg>
      </pc:sldChg>
      <pc:sldChg chg="modSp mod">
        <pc:chgData name="Carlos Araújo" userId="b2c4e7b3d374cd22" providerId="LiveId" clId="{CBC3F478-1899-44E5-9FBF-9CC91F9DC4A1}" dt="2026-07-07T16:41:43.410" v="29" actId="790"/>
        <pc:sldMkLst>
          <pc:docMk/>
          <pc:sldMk cId="0" sldId="264"/>
        </pc:sldMkLst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4"/>
            <ac:spMk id="2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4"/>
            <ac:spMk id="3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4"/>
            <ac:spMk id="4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4"/>
            <ac:spMk id="5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4"/>
            <ac:spMk id="7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4"/>
            <ac:spMk id="8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4"/>
            <ac:spMk id="9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4"/>
            <ac:spMk id="10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4"/>
            <ac:spMk id="11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4"/>
            <ac:spMk id="12" creationId="{00000000-0000-0000-0000-000000000000}"/>
          </ac:spMkLst>
        </pc:spChg>
      </pc:sldChg>
      <pc:sldChg chg="modSp mod">
        <pc:chgData name="Carlos Araújo" userId="b2c4e7b3d374cd22" providerId="LiveId" clId="{CBC3F478-1899-44E5-9FBF-9CC91F9DC4A1}" dt="2026-07-07T16:41:43.410" v="29" actId="790"/>
        <pc:sldMkLst>
          <pc:docMk/>
          <pc:sldMk cId="0" sldId="265"/>
        </pc:sldMkLst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5"/>
            <ac:spMk id="2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5"/>
            <ac:spMk id="6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5"/>
            <ac:spMk id="7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5"/>
            <ac:spMk id="8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5"/>
            <ac:spMk id="20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5"/>
            <ac:spMk id="25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5"/>
            <ac:spMk id="32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5"/>
            <ac:spMk id="35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5"/>
            <ac:spMk id="37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5"/>
            <ac:spMk id="38" creationId="{00000000-0000-0000-0000-000000000000}"/>
          </ac:spMkLst>
        </pc:spChg>
      </pc:sldChg>
      <pc:sldChg chg="modSp mod">
        <pc:chgData name="Carlos Araújo" userId="b2c4e7b3d374cd22" providerId="LiveId" clId="{CBC3F478-1899-44E5-9FBF-9CC91F9DC4A1}" dt="2026-07-07T16:41:43.410" v="29" actId="790"/>
        <pc:sldMkLst>
          <pc:docMk/>
          <pc:sldMk cId="0" sldId="266"/>
        </pc:sldMkLst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6"/>
            <ac:spMk id="3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6"/>
            <ac:spMk id="4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6"/>
            <ac:spMk id="7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6"/>
            <ac:spMk id="11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6"/>
            <ac:spMk id="13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6"/>
            <ac:spMk id="17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6"/>
            <ac:spMk id="19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6"/>
            <ac:spMk id="20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6"/>
            <ac:spMk id="22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6"/>
            <ac:spMk id="23" creationId="{00000000-0000-0000-0000-000000000000}"/>
          </ac:spMkLst>
        </pc:spChg>
      </pc:sldChg>
      <pc:sldChg chg="delSp modSp mod">
        <pc:chgData name="Carlos Araújo" userId="b2c4e7b3d374cd22" providerId="LiveId" clId="{CBC3F478-1899-44E5-9FBF-9CC91F9DC4A1}" dt="2026-07-07T18:02:39.683" v="133" actId="478"/>
        <pc:sldMkLst>
          <pc:docMk/>
          <pc:sldMk cId="0" sldId="267"/>
        </pc:sldMkLst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7"/>
            <ac:spMk id="4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7"/>
            <ac:spMk id="7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7"/>
            <ac:spMk id="10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7"/>
            <ac:spMk id="13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7"/>
            <ac:spMk id="18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7"/>
            <ac:spMk id="19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7"/>
            <ac:spMk id="21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7"/>
            <ac:spMk id="30" creationId="{00000000-0000-0000-0000-000000000000}"/>
          </ac:spMkLst>
        </pc:spChg>
        <pc:spChg chg="del">
          <ac:chgData name="Carlos Araújo" userId="b2c4e7b3d374cd22" providerId="LiveId" clId="{CBC3F478-1899-44E5-9FBF-9CC91F9DC4A1}" dt="2026-07-07T18:02:39.683" v="133" actId="478"/>
          <ac:spMkLst>
            <pc:docMk/>
            <pc:sldMk cId="0" sldId="267"/>
            <ac:spMk id="32" creationId="{00000000-0000-0000-0000-000000000000}"/>
          </ac:spMkLst>
        </pc:spChg>
        <pc:spChg chg="del mod">
          <ac:chgData name="Carlos Araújo" userId="b2c4e7b3d374cd22" providerId="LiveId" clId="{CBC3F478-1899-44E5-9FBF-9CC91F9DC4A1}" dt="2026-07-07T18:02:38.387" v="132" actId="478"/>
          <ac:spMkLst>
            <pc:docMk/>
            <pc:sldMk cId="0" sldId="267"/>
            <ac:spMk id="33" creationId="{00000000-0000-0000-0000-000000000000}"/>
          </ac:spMkLst>
        </pc:spChg>
        <pc:spChg chg="del mod">
          <ac:chgData name="Carlos Araújo" userId="b2c4e7b3d374cd22" providerId="LiveId" clId="{CBC3F478-1899-44E5-9FBF-9CC91F9DC4A1}" dt="2026-07-07T18:02:36.456" v="130" actId="478"/>
          <ac:spMkLst>
            <pc:docMk/>
            <pc:sldMk cId="0" sldId="267"/>
            <ac:spMk id="35" creationId="{00000000-0000-0000-0000-000000000000}"/>
          </ac:spMkLst>
        </pc:spChg>
        <pc:picChg chg="del">
          <ac:chgData name="Carlos Araújo" userId="b2c4e7b3d374cd22" providerId="LiveId" clId="{CBC3F478-1899-44E5-9FBF-9CC91F9DC4A1}" dt="2026-07-07T18:02:37.203" v="131" actId="478"/>
          <ac:picMkLst>
            <pc:docMk/>
            <pc:sldMk cId="0" sldId="267"/>
            <ac:picMk id="34" creationId="{00000000-0000-0000-0000-000000000000}"/>
          </ac:picMkLst>
        </pc:picChg>
      </pc:sldChg>
      <pc:sldChg chg="modSp mod">
        <pc:chgData name="Carlos Araújo" userId="b2c4e7b3d374cd22" providerId="LiveId" clId="{CBC3F478-1899-44E5-9FBF-9CC91F9DC4A1}" dt="2026-07-07T16:41:43.410" v="29" actId="790"/>
        <pc:sldMkLst>
          <pc:docMk/>
          <pc:sldMk cId="0" sldId="268"/>
        </pc:sldMkLst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8"/>
            <ac:spMk id="3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8"/>
            <ac:spMk id="4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8"/>
            <ac:spMk id="6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8"/>
            <ac:spMk id="8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8"/>
            <ac:spMk id="10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8"/>
            <ac:spMk id="11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8"/>
            <ac:spMk id="13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8"/>
            <ac:spMk id="14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8"/>
            <ac:spMk id="15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8"/>
            <ac:spMk id="16" creationId="{00000000-0000-0000-0000-000000000000}"/>
          </ac:spMkLst>
        </pc:spChg>
      </pc:sldChg>
      <pc:sldChg chg="modSp mod">
        <pc:chgData name="Carlos Araújo" userId="b2c4e7b3d374cd22" providerId="LiveId" clId="{CBC3F478-1899-44E5-9FBF-9CC91F9DC4A1}" dt="2026-07-07T16:41:43.410" v="29" actId="790"/>
        <pc:sldMkLst>
          <pc:docMk/>
          <pc:sldMk cId="0" sldId="269"/>
        </pc:sldMkLst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9"/>
            <ac:spMk id="2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9"/>
            <ac:spMk id="3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9"/>
            <ac:spMk id="6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9"/>
            <ac:spMk id="10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9"/>
            <ac:spMk id="11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9"/>
            <ac:spMk id="14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9"/>
            <ac:spMk id="15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9"/>
            <ac:spMk id="20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9"/>
            <ac:spMk id="21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69"/>
            <ac:spMk id="23" creationId="{00000000-0000-0000-0000-000000000000}"/>
          </ac:spMkLst>
        </pc:spChg>
      </pc:sldChg>
      <pc:sldChg chg="modSp mod">
        <pc:chgData name="Carlos Araújo" userId="b2c4e7b3d374cd22" providerId="LiveId" clId="{CBC3F478-1899-44E5-9FBF-9CC91F9DC4A1}" dt="2026-07-07T18:03:17.026" v="215" actId="20577"/>
        <pc:sldMkLst>
          <pc:docMk/>
          <pc:sldMk cId="0" sldId="270"/>
        </pc:sldMkLst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70"/>
            <ac:spMk id="4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70"/>
            <ac:spMk id="8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70"/>
            <ac:spMk id="9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70"/>
            <ac:spMk id="10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8:02:53.888" v="152" actId="20577"/>
          <ac:spMkLst>
            <pc:docMk/>
            <pc:sldMk cId="0" sldId="270"/>
            <ac:spMk id="12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8:03:17.026" v="215" actId="20577"/>
          <ac:spMkLst>
            <pc:docMk/>
            <pc:sldMk cId="0" sldId="270"/>
            <ac:spMk id="13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70"/>
            <ac:spMk id="14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70"/>
            <ac:spMk id="19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70"/>
            <ac:spMk id="20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70"/>
            <ac:spMk id="23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70"/>
            <ac:spMk id="29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70"/>
            <ac:spMk id="30" creationId="{00000000-0000-0000-0000-000000000000}"/>
          </ac:spMkLst>
        </pc:spChg>
      </pc:sldChg>
      <pc:sldChg chg="modSp mod">
        <pc:chgData name="Carlos Araújo" userId="b2c4e7b3d374cd22" providerId="LiveId" clId="{CBC3F478-1899-44E5-9FBF-9CC91F9DC4A1}" dt="2026-07-07T16:41:43.410" v="29" actId="790"/>
        <pc:sldMkLst>
          <pc:docMk/>
          <pc:sldMk cId="0" sldId="271"/>
        </pc:sldMkLst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71"/>
            <ac:spMk id="2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71"/>
            <ac:spMk id="3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71"/>
            <ac:spMk id="4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71"/>
            <ac:spMk id="5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71"/>
            <ac:spMk id="6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71"/>
            <ac:spMk id="8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71"/>
            <ac:spMk id="10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71"/>
            <ac:spMk id="11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71"/>
            <ac:spMk id="12" creationId="{00000000-0000-0000-0000-000000000000}"/>
          </ac:spMkLst>
        </pc:spChg>
        <pc:spChg chg="mod">
          <ac:chgData name="Carlos Araújo" userId="b2c4e7b3d374cd22" providerId="LiveId" clId="{CBC3F478-1899-44E5-9FBF-9CC91F9DC4A1}" dt="2026-07-07T16:41:43.410" v="29" actId="790"/>
          <ac:spMkLst>
            <pc:docMk/>
            <pc:sldMk cId="0" sldId="271"/>
            <ac:spMk id="14" creationId="{00000000-0000-0000-0000-000000000000}"/>
          </ac:spMkLst>
        </pc:spChg>
      </pc:sldChg>
      <pc:sldChg chg="add del setBg">
        <pc:chgData name="Carlos Araújo" userId="b2c4e7b3d374cd22" providerId="LiveId" clId="{CBC3F478-1899-44E5-9FBF-9CC91F9DC4A1}" dt="2026-07-07T16:41:12.906" v="4"/>
        <pc:sldMkLst>
          <pc:docMk/>
          <pc:sldMk cId="0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4085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10" Type="http://schemas.openxmlformats.org/officeDocument/2006/relationships/image" Target="../media/image21.png"/><Relationship Id="rId4" Type="http://schemas.openxmlformats.org/officeDocument/2006/relationships/image" Target="../media/image8.png"/><Relationship Id="rId9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39151" y="-3621024"/>
            <a:ext cx="7607808" cy="7607808"/>
          </a:xfrm>
          <a:prstGeom prst="ellipse">
            <a:avLst/>
          </a:prstGeom>
          <a:ln w="15875">
            <a:solidFill>
              <a:srgbClr val="0A2A3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9056400" y="-2403775"/>
            <a:ext cx="5173309" cy="5173309"/>
          </a:xfrm>
          <a:prstGeom prst="ellipse">
            <a:avLst/>
          </a:prstGeom>
          <a:ln w="15875">
            <a:solidFill>
              <a:srgbClr val="093E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10197572" y="-1262604"/>
            <a:ext cx="2890967" cy="2890967"/>
          </a:xfrm>
          <a:prstGeom prst="ellipse">
            <a:avLst/>
          </a:prstGeom>
          <a:ln w="15875">
            <a:solidFill>
              <a:srgbClr val="07625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-914400" y="4846320"/>
            <a:ext cx="2926080" cy="2926080"/>
          </a:xfrm>
          <a:prstGeom prst="ellipse">
            <a:avLst/>
          </a:prstGeom>
          <a:ln w="15875">
            <a:solidFill>
              <a:srgbClr val="0A2A3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-446227" y="5314493"/>
            <a:ext cx="1989734" cy="1989734"/>
          </a:xfrm>
          <a:prstGeom prst="ellipse">
            <a:avLst/>
          </a:prstGeom>
          <a:ln w="15875">
            <a:solidFill>
              <a:srgbClr val="093E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-7315" y="5753405"/>
            <a:ext cx="1111910" cy="1111910"/>
          </a:xfrm>
          <a:prstGeom prst="ellipse">
            <a:avLst/>
          </a:prstGeom>
          <a:ln w="15875">
            <a:solidFill>
              <a:srgbClr val="07625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914400" cy="91440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57734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kern="0" spc="400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SENAI FUTURO — DESAFIO IA</a:t>
            </a:r>
            <a:endParaRPr lang="pt-BR" sz="1400" noProof="0" dirty="0"/>
          </a:p>
        </p:txBody>
      </p:sp>
      <p:sp>
        <p:nvSpPr>
          <p:cNvPr id="11" name="Text 8"/>
          <p:cNvSpPr/>
          <p:nvPr/>
        </p:nvSpPr>
        <p:spPr>
          <a:xfrm>
            <a:off x="640080" y="28803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42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Radar de Tendências Tecnológicas</a:t>
            </a:r>
            <a:endParaRPr lang="pt-BR" sz="4200" noProof="0" dirty="0"/>
          </a:p>
        </p:txBody>
      </p:sp>
      <p:sp>
        <p:nvSpPr>
          <p:cNvPr id="12" name="Text 9"/>
          <p:cNvSpPr/>
          <p:nvPr/>
        </p:nvSpPr>
        <p:spPr>
          <a:xfrm>
            <a:off x="64008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i="1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painel executivo que só afirma o que consegue provar.</a:t>
            </a:r>
            <a:endParaRPr lang="pt-BR" sz="1700" noProof="0" dirty="0"/>
          </a:p>
        </p:txBody>
      </p:sp>
      <p:sp>
        <p:nvSpPr>
          <p:cNvPr id="13" name="Shape 10"/>
          <p:cNvSpPr/>
          <p:nvPr/>
        </p:nvSpPr>
        <p:spPr>
          <a:xfrm>
            <a:off x="640080" y="5943600"/>
            <a:ext cx="2926080" cy="0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1"/>
          <p:cNvSpPr/>
          <p:nvPr/>
        </p:nvSpPr>
        <p:spPr>
          <a:xfrm>
            <a:off x="640080" y="6080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Araújo Jr.  ·  Apresentação técnica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>
            <a:extLst>
              <a:ext uri="{FF2B5EF4-FFF2-40B4-BE49-F238E27FC236}">
                <a16:creationId xmlns:a16="http://schemas.microsoft.com/office/drawing/2014/main" id="{CAB2E86A-662E-BA79-FF97-24659B5851CF}"/>
              </a:ext>
            </a:extLst>
          </p:cNvPr>
          <p:cNvSpPr/>
          <p:nvPr/>
        </p:nvSpPr>
        <p:spPr>
          <a:xfrm>
            <a:off x="10033711" y="4700016"/>
            <a:ext cx="3218688" cy="3218688"/>
          </a:xfrm>
          <a:prstGeom prst="ellipse">
            <a:avLst/>
          </a:prstGeom>
          <a:ln w="15875">
            <a:solidFill>
              <a:srgbClr val="0A2A3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65481EA5-4D01-115E-A667-42AD5B2E2797}"/>
              </a:ext>
            </a:extLst>
          </p:cNvPr>
          <p:cNvSpPr/>
          <p:nvPr/>
        </p:nvSpPr>
        <p:spPr>
          <a:xfrm>
            <a:off x="10548701" y="5215006"/>
            <a:ext cx="2188708" cy="2188708"/>
          </a:xfrm>
          <a:prstGeom prst="ellipse">
            <a:avLst/>
          </a:prstGeom>
          <a:ln w="15875">
            <a:solidFill>
              <a:srgbClr val="093E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AE23340C-68B5-D967-E556-EC3727CDA5C9}"/>
              </a:ext>
            </a:extLst>
          </p:cNvPr>
          <p:cNvSpPr/>
          <p:nvPr/>
        </p:nvSpPr>
        <p:spPr>
          <a:xfrm>
            <a:off x="11031504" y="5697809"/>
            <a:ext cx="1223101" cy="1223101"/>
          </a:xfrm>
          <a:prstGeom prst="ellipse">
            <a:avLst/>
          </a:prstGeom>
          <a:ln w="15875">
            <a:solidFill>
              <a:srgbClr val="07625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575DB3DB-84ED-1C69-4BB5-BF47E5EC8389}"/>
              </a:ext>
            </a:extLst>
          </p:cNvPr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300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PROBLEMA</a:t>
            </a:r>
            <a:endParaRPr lang="pt-BR" sz="1200" noProof="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BD50BF9B-7643-C5BC-7AE7-3128C71E373B}"/>
              </a:ext>
            </a:extLst>
          </p:cNvPr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Tendências tecnológicas, decisões atrasadas</a:t>
            </a:r>
            <a:endParaRPr lang="pt-BR" sz="3000" noProof="0" dirty="0"/>
          </a:p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C981B90A-6202-A33B-AFD0-B0802A2BC139}"/>
              </a:ext>
            </a:extLst>
          </p:cNvPr>
          <p:cNvSpPr/>
          <p:nvPr/>
        </p:nvSpPr>
        <p:spPr>
          <a:xfrm>
            <a:off x="640080" y="1874520"/>
            <a:ext cx="54864" cy="2240280"/>
          </a:xfrm>
          <a:prstGeom prst="rect">
            <a:avLst/>
          </a:prstGeom>
          <a:solidFill>
            <a:srgbClr val="00D9A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A77C1514-15B3-2E04-C8B5-DE261FEB8329}"/>
              </a:ext>
            </a:extLst>
          </p:cNvPr>
          <p:cNvSpPr/>
          <p:nvPr/>
        </p:nvSpPr>
        <p:spPr>
          <a:xfrm>
            <a:off x="960120" y="187452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pt-BR" sz="1900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Como fazer a indústria acompanhar as tendências tecnológicas mundiais e fazê-la se preparar para o futuro de forma preditiva? </a:t>
            </a:r>
            <a:endParaRPr lang="pt-BR" sz="1900" noProof="0" dirty="0"/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37FDB998-C01E-BE1A-B5E4-09E0739F05AF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41" name="Image 0" descr="preencoded.png">
            <a:extLst>
              <a:ext uri="{FF2B5EF4-FFF2-40B4-BE49-F238E27FC236}">
                <a16:creationId xmlns:a16="http://schemas.microsoft.com/office/drawing/2014/main" id="{40D6E68A-6E8E-1BEE-8CAE-0EEC853E1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066544"/>
            <a:ext cx="256032" cy="256032"/>
          </a:xfrm>
          <a:prstGeom prst="rect">
            <a:avLst/>
          </a:prstGeom>
        </p:spPr>
      </p:pic>
      <p:sp>
        <p:nvSpPr>
          <p:cNvPr id="43" name="Text 9">
            <a:extLst>
              <a:ext uri="{FF2B5EF4-FFF2-40B4-BE49-F238E27FC236}">
                <a16:creationId xmlns:a16="http://schemas.microsoft.com/office/drawing/2014/main" id="{5E039F3D-A755-FA20-0FC8-5E4628840FE6}"/>
              </a:ext>
            </a:extLst>
          </p:cNvPr>
          <p:cNvSpPr/>
          <p:nvPr/>
        </p:nvSpPr>
        <p:spPr>
          <a:xfrm>
            <a:off x="7114032" y="1938528"/>
            <a:ext cx="44375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manual e dispersa</a:t>
            </a:r>
            <a:endParaRPr lang="pt-BR" sz="1500" noProof="0" dirty="0"/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761E11D6-D2BC-8FFF-0543-035C3AAE6517}"/>
              </a:ext>
            </a:extLst>
          </p:cNvPr>
          <p:cNvSpPr/>
          <p:nvPr/>
        </p:nvSpPr>
        <p:spPr>
          <a:xfrm>
            <a:off x="7114032" y="2212848"/>
            <a:ext cx="44375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tendência exige garimpar dezenas de fontes na mão, sem padrão.</a:t>
            </a:r>
            <a:endParaRPr lang="pt-BR" sz="1200" noProof="0" dirty="0"/>
          </a:p>
        </p:txBody>
      </p:sp>
      <p:sp>
        <p:nvSpPr>
          <p:cNvPr id="47" name="Shape 11">
            <a:extLst>
              <a:ext uri="{FF2B5EF4-FFF2-40B4-BE49-F238E27FC236}">
                <a16:creationId xmlns:a16="http://schemas.microsoft.com/office/drawing/2014/main" id="{0231959D-DBA3-D25E-B9CE-5304F6BEC008}"/>
              </a:ext>
            </a:extLst>
          </p:cNvPr>
          <p:cNvSpPr/>
          <p:nvPr/>
        </p:nvSpPr>
        <p:spPr>
          <a:xfrm>
            <a:off x="6492240" y="3063240"/>
            <a:ext cx="457200" cy="45720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49" name="Image 1" descr="preencoded.png">
            <a:extLst>
              <a:ext uri="{FF2B5EF4-FFF2-40B4-BE49-F238E27FC236}">
                <a16:creationId xmlns:a16="http://schemas.microsoft.com/office/drawing/2014/main" id="{EA02F875-599E-986E-EDB7-F5D78021DE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3163824"/>
            <a:ext cx="256032" cy="256032"/>
          </a:xfrm>
          <a:prstGeom prst="rect">
            <a:avLst/>
          </a:prstGeom>
        </p:spPr>
      </p:pic>
      <p:sp>
        <p:nvSpPr>
          <p:cNvPr id="51" name="Text 12">
            <a:extLst>
              <a:ext uri="{FF2B5EF4-FFF2-40B4-BE49-F238E27FC236}">
                <a16:creationId xmlns:a16="http://schemas.microsoft.com/office/drawing/2014/main" id="{E758D74B-DD1C-70D0-E593-1BDE9BFB7670}"/>
              </a:ext>
            </a:extLst>
          </p:cNvPr>
          <p:cNvSpPr/>
          <p:nvPr/>
        </p:nvSpPr>
        <p:spPr>
          <a:xfrm>
            <a:off x="7114032" y="3035808"/>
            <a:ext cx="44375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rastreabilidade</a:t>
            </a:r>
            <a:endParaRPr lang="pt-BR" sz="1500" noProof="0" dirty="0"/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E15A84FE-A50C-54E9-E0D0-2388BA50BF33}"/>
              </a:ext>
            </a:extLst>
          </p:cNvPr>
          <p:cNvSpPr/>
          <p:nvPr/>
        </p:nvSpPr>
        <p:spPr>
          <a:xfrm>
            <a:off x="7114032" y="3310128"/>
            <a:ext cx="44375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resumo de IA genérico não dá pra citar com segurança em reunião de diretoria.</a:t>
            </a:r>
            <a:endParaRPr lang="pt-BR" sz="1200" noProof="0" dirty="0"/>
          </a:p>
        </p:txBody>
      </p:sp>
      <p:sp>
        <p:nvSpPr>
          <p:cNvPr id="55" name="Shape 14">
            <a:extLst>
              <a:ext uri="{FF2B5EF4-FFF2-40B4-BE49-F238E27FC236}">
                <a16:creationId xmlns:a16="http://schemas.microsoft.com/office/drawing/2014/main" id="{7BB6228B-B61E-C785-3567-641C5AACF472}"/>
              </a:ext>
            </a:extLst>
          </p:cNvPr>
          <p:cNvSpPr/>
          <p:nvPr/>
        </p:nvSpPr>
        <p:spPr>
          <a:xfrm>
            <a:off x="6492240" y="4160520"/>
            <a:ext cx="457200" cy="45720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7" name="Image 2" descr="preencoded.png">
            <a:extLst>
              <a:ext uri="{FF2B5EF4-FFF2-40B4-BE49-F238E27FC236}">
                <a16:creationId xmlns:a16="http://schemas.microsoft.com/office/drawing/2014/main" id="{948EE6EA-6CDB-9CF7-4EC4-36A0A6546E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4261104"/>
            <a:ext cx="256032" cy="256032"/>
          </a:xfrm>
          <a:prstGeom prst="rect">
            <a:avLst/>
          </a:prstGeom>
        </p:spPr>
      </p:pic>
      <p:sp>
        <p:nvSpPr>
          <p:cNvPr id="59" name="Text 15">
            <a:extLst>
              <a:ext uri="{FF2B5EF4-FFF2-40B4-BE49-F238E27FC236}">
                <a16:creationId xmlns:a16="http://schemas.microsoft.com/office/drawing/2014/main" id="{A665DFE0-067D-D336-85B8-F139B46273AE}"/>
              </a:ext>
            </a:extLst>
          </p:cNvPr>
          <p:cNvSpPr/>
          <p:nvPr/>
        </p:nvSpPr>
        <p:spPr>
          <a:xfrm>
            <a:off x="7114032" y="4133088"/>
            <a:ext cx="44375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para consolidar</a:t>
            </a:r>
            <a:endParaRPr lang="pt-BR" sz="1500" noProof="0" dirty="0"/>
          </a:p>
        </p:txBody>
      </p:sp>
      <p:sp>
        <p:nvSpPr>
          <p:cNvPr id="61" name="Text 16">
            <a:extLst>
              <a:ext uri="{FF2B5EF4-FFF2-40B4-BE49-F238E27FC236}">
                <a16:creationId xmlns:a16="http://schemas.microsoft.com/office/drawing/2014/main" id="{8F277DDE-C189-EAAD-C1FF-AC5E437F203C}"/>
              </a:ext>
            </a:extLst>
          </p:cNvPr>
          <p:cNvSpPr/>
          <p:nvPr/>
        </p:nvSpPr>
        <p:spPr>
          <a:xfrm>
            <a:off x="7114032" y="4407408"/>
            <a:ext cx="44375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hoje depende de tempo humano — decisão estratégica sempre chega atrasada.</a:t>
            </a:r>
            <a:endParaRPr lang="pt-BR" sz="1200" noProof="0" dirty="0"/>
          </a:p>
        </p:txBody>
      </p:sp>
      <p:sp>
        <p:nvSpPr>
          <p:cNvPr id="63" name="Text 17">
            <a:extLst>
              <a:ext uri="{FF2B5EF4-FFF2-40B4-BE49-F238E27FC236}">
                <a16:creationId xmlns:a16="http://schemas.microsoft.com/office/drawing/2014/main" id="{317C808F-FFC2-EBCF-C88F-6AB848EA03F2}"/>
              </a:ext>
            </a:extLst>
          </p:cNvPr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DE TENDÊNCIAS TECNOLÓGICAS  ·  SENAI FUTURO — IA</a:t>
            </a:r>
            <a:endParaRPr lang="pt-BR" sz="900" noProof="0" dirty="0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88079F10-0F11-2663-12D4-8B2BB7731B11}"/>
              </a:ext>
            </a:extLst>
          </p:cNvPr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C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16975" y="-2743200"/>
            <a:ext cx="5852160" cy="5852160"/>
          </a:xfrm>
          <a:prstGeom prst="ellipse">
            <a:avLst/>
          </a:prstGeom>
          <a:ln w="15875">
            <a:solidFill>
              <a:srgbClr val="0A2A3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9653321" y="-1806854"/>
            <a:ext cx="3979469" cy="3979469"/>
          </a:xfrm>
          <a:prstGeom prst="ellipse">
            <a:avLst/>
          </a:prstGeom>
          <a:ln w="15875">
            <a:solidFill>
              <a:srgbClr val="093E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10531145" y="-929030"/>
            <a:ext cx="2223821" cy="2223821"/>
          </a:xfrm>
          <a:prstGeom prst="ellipse">
            <a:avLst/>
          </a:prstGeom>
          <a:ln w="15875">
            <a:solidFill>
              <a:srgbClr val="07625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300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PROPOSTA</a:t>
            </a:r>
            <a:endParaRPr lang="pt-BR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tema livre a painel executivo, em minutos</a:t>
            </a:r>
            <a:endParaRPr lang="pt-BR" sz="3000" noProof="0" dirty="0"/>
          </a:p>
        </p:txBody>
      </p:sp>
      <p:sp>
        <p:nvSpPr>
          <p:cNvPr id="7" name="Shape 5"/>
          <p:cNvSpPr/>
          <p:nvPr/>
        </p:nvSpPr>
        <p:spPr>
          <a:xfrm>
            <a:off x="1340968" y="2377440"/>
            <a:ext cx="2834640" cy="1645920"/>
          </a:xfrm>
          <a:prstGeom prst="rect">
            <a:avLst/>
          </a:prstGeom>
          <a:solidFill>
            <a:srgbClr val="141C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2483968" y="2633472"/>
            <a:ext cx="548640" cy="548640"/>
          </a:xfrm>
          <a:prstGeom prst="ellipse">
            <a:avLst/>
          </a:prstGeom>
          <a:solidFill>
            <a:srgbClr val="1B2438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668" y="2754173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78128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Tema livre</a:t>
            </a:r>
            <a:endParaRPr lang="pt-BR" sz="1600" noProof="0" dirty="0"/>
          </a:p>
        </p:txBody>
      </p:sp>
      <p:sp>
        <p:nvSpPr>
          <p:cNvPr id="11" name="Text 8"/>
          <p:cNvSpPr/>
          <p:nvPr/>
        </p:nvSpPr>
        <p:spPr>
          <a:xfrm>
            <a:off x="1478128" y="3639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tecnológica</a:t>
            </a:r>
            <a:endParaRPr lang="pt-BR" sz="1100" noProof="0" dirty="0"/>
          </a:p>
        </p:txBody>
      </p:sp>
      <p:sp>
        <p:nvSpPr>
          <p:cNvPr id="12" name="Shape 9"/>
          <p:cNvSpPr/>
          <p:nvPr/>
        </p:nvSpPr>
        <p:spPr>
          <a:xfrm>
            <a:off x="4230472" y="3063240"/>
            <a:ext cx="393192" cy="274320"/>
          </a:xfrm>
          <a:prstGeom prst="rightArrow">
            <a:avLst/>
          </a:prstGeom>
          <a:solidFill>
            <a:srgbClr val="00D9A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0"/>
          <p:cNvSpPr/>
          <p:nvPr/>
        </p:nvSpPr>
        <p:spPr>
          <a:xfrm>
            <a:off x="4678528" y="2377440"/>
            <a:ext cx="2834640" cy="1645920"/>
          </a:xfrm>
          <a:prstGeom prst="rect">
            <a:avLst/>
          </a:prstGeom>
          <a:solidFill>
            <a:srgbClr val="12332C"/>
          </a:solidFill>
          <a:ln w="19050">
            <a:solidFill>
              <a:srgbClr val="00D9A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1"/>
          <p:cNvSpPr/>
          <p:nvPr/>
        </p:nvSpPr>
        <p:spPr>
          <a:xfrm>
            <a:off x="5821528" y="2633472"/>
            <a:ext cx="548640" cy="548640"/>
          </a:xfrm>
          <a:prstGeom prst="ellipse">
            <a:avLst/>
          </a:prstGeom>
          <a:solidFill>
            <a:srgbClr val="1B2438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228" y="2754173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15688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Radar</a:t>
            </a:r>
            <a:endParaRPr lang="pt-BR" sz="1600" noProof="0" dirty="0"/>
          </a:p>
        </p:txBody>
      </p:sp>
      <p:sp>
        <p:nvSpPr>
          <p:cNvPr id="17" name="Text 13"/>
          <p:cNvSpPr/>
          <p:nvPr/>
        </p:nvSpPr>
        <p:spPr>
          <a:xfrm>
            <a:off x="4815688" y="3639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+ síntese</a:t>
            </a:r>
            <a:endParaRPr lang="pt-BR" sz="1100" noProof="0" dirty="0"/>
          </a:p>
        </p:txBody>
      </p:sp>
      <p:sp>
        <p:nvSpPr>
          <p:cNvPr id="18" name="Shape 14"/>
          <p:cNvSpPr/>
          <p:nvPr/>
        </p:nvSpPr>
        <p:spPr>
          <a:xfrm>
            <a:off x="7568032" y="3063240"/>
            <a:ext cx="393192" cy="274320"/>
          </a:xfrm>
          <a:prstGeom prst="rightArrow">
            <a:avLst/>
          </a:prstGeom>
          <a:solidFill>
            <a:srgbClr val="00D9A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Shape 15"/>
          <p:cNvSpPr/>
          <p:nvPr/>
        </p:nvSpPr>
        <p:spPr>
          <a:xfrm>
            <a:off x="8016088" y="2377440"/>
            <a:ext cx="2834640" cy="1645920"/>
          </a:xfrm>
          <a:prstGeom prst="rect">
            <a:avLst/>
          </a:prstGeom>
          <a:solidFill>
            <a:srgbClr val="141C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6"/>
          <p:cNvSpPr/>
          <p:nvPr/>
        </p:nvSpPr>
        <p:spPr>
          <a:xfrm>
            <a:off x="9159088" y="2633472"/>
            <a:ext cx="548640" cy="548640"/>
          </a:xfrm>
          <a:prstGeom prst="ellipse">
            <a:avLst/>
          </a:prstGeom>
          <a:solidFill>
            <a:srgbClr val="1B2438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9788" y="2754173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53248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Painel executivo</a:t>
            </a:r>
            <a:endParaRPr lang="pt-BR" sz="1600" noProof="0" dirty="0"/>
          </a:p>
        </p:txBody>
      </p:sp>
      <p:sp>
        <p:nvSpPr>
          <p:cNvPr id="23" name="Text 18"/>
          <p:cNvSpPr/>
          <p:nvPr/>
        </p:nvSpPr>
        <p:spPr>
          <a:xfrm>
            <a:off x="8153248" y="3639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seções + evidências</a:t>
            </a:r>
            <a:endParaRPr lang="pt-BR" sz="1100" noProof="0" dirty="0"/>
          </a:p>
        </p:txBody>
      </p:sp>
      <p:sp>
        <p:nvSpPr>
          <p:cNvPr id="24" name="Text 19"/>
          <p:cNvSpPr/>
          <p:nvPr/>
        </p:nvSpPr>
        <p:spPr>
          <a:xfrm>
            <a:off x="640080" y="46634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700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afirmação é rastreável a uma evidência real </a:t>
            </a:r>
            <a:r>
              <a:rPr lang="pt-BR" sz="1700" b="1" noProof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ou é marcada como inferência.</a:t>
            </a:r>
            <a:endParaRPr lang="pt-BR" sz="1700" noProof="0" dirty="0"/>
          </a:p>
        </p:txBody>
      </p:sp>
      <p:sp>
        <p:nvSpPr>
          <p:cNvPr id="25" name="Text 2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DE TENDÊNCIAS TECNOLÓGICAS  ·  SENAI FUTURO — IA</a:t>
            </a:r>
            <a:endParaRPr lang="pt-BR" sz="900" noProof="0" dirty="0"/>
          </a:p>
        </p:txBody>
      </p:sp>
      <p:sp>
        <p:nvSpPr>
          <p:cNvPr id="26" name="Text 2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C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300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COMO FUNCIONA — CONFORME O DESAFIO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etapas, do enunciado à entrega</a:t>
            </a:r>
            <a:endParaRPr lang="pt-B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860908" y="2834640"/>
            <a:ext cx="3246120" cy="2286000"/>
          </a:xfrm>
          <a:prstGeom prst="rect">
            <a:avLst/>
          </a:prstGeom>
          <a:solidFill>
            <a:srgbClr val="141C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1089508" y="2999232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03B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pt-BR" sz="3000" noProof="0" dirty="0"/>
          </a:p>
        </p:txBody>
      </p:sp>
      <p:sp>
        <p:nvSpPr>
          <p:cNvPr id="6" name="Shape 4"/>
          <p:cNvSpPr/>
          <p:nvPr/>
        </p:nvSpPr>
        <p:spPr>
          <a:xfrm>
            <a:off x="3329788" y="3035808"/>
            <a:ext cx="502920" cy="50292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430" y="3146450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9508" y="367588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Definição do tema</a:t>
            </a:r>
            <a:endParaRPr lang="pt-BR" sz="1700" noProof="0" dirty="0"/>
          </a:p>
        </p:txBody>
      </p:sp>
      <p:sp>
        <p:nvSpPr>
          <p:cNvPr id="9" name="Text 6"/>
          <p:cNvSpPr/>
          <p:nvPr/>
        </p:nvSpPr>
        <p:spPr>
          <a:xfrm>
            <a:off x="1089508" y="41148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informa uma tendência ou tecnologia em texto livre.</a:t>
            </a:r>
            <a:endParaRPr lang="pt-BR" sz="1250" noProof="0" dirty="0"/>
          </a:p>
        </p:txBody>
      </p:sp>
      <p:sp>
        <p:nvSpPr>
          <p:cNvPr id="10" name="Shape 7"/>
          <p:cNvSpPr/>
          <p:nvPr/>
        </p:nvSpPr>
        <p:spPr>
          <a:xfrm>
            <a:off x="4143604" y="3858768"/>
            <a:ext cx="292608" cy="237744"/>
          </a:xfrm>
          <a:prstGeom prst="rightArrow">
            <a:avLst/>
          </a:prstGeom>
          <a:solidFill>
            <a:srgbClr val="00D9A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4472788" y="2834640"/>
            <a:ext cx="3246120" cy="2286000"/>
          </a:xfrm>
          <a:prstGeom prst="rect">
            <a:avLst/>
          </a:prstGeom>
          <a:solidFill>
            <a:srgbClr val="141C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9"/>
          <p:cNvSpPr/>
          <p:nvPr/>
        </p:nvSpPr>
        <p:spPr>
          <a:xfrm>
            <a:off x="4701388" y="2999232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03B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pt-BR" sz="3000" noProof="0" dirty="0"/>
          </a:p>
        </p:txBody>
      </p:sp>
      <p:sp>
        <p:nvSpPr>
          <p:cNvPr id="13" name="Shape 10"/>
          <p:cNvSpPr/>
          <p:nvPr/>
        </p:nvSpPr>
        <p:spPr>
          <a:xfrm>
            <a:off x="6941668" y="3035808"/>
            <a:ext cx="502920" cy="50292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310" y="3146450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01388" y="367588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Coleta de evidências</a:t>
            </a:r>
            <a:endParaRPr lang="pt-BR" sz="1700" noProof="0" dirty="0"/>
          </a:p>
        </p:txBody>
      </p:sp>
      <p:sp>
        <p:nvSpPr>
          <p:cNvPr id="16" name="Text 12"/>
          <p:cNvSpPr/>
          <p:nvPr/>
        </p:nvSpPr>
        <p:spPr>
          <a:xfrm>
            <a:off x="4701388" y="41148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públicas e confiáveis: científicas, mercado, notícia, corporativa, patente.</a:t>
            </a:r>
            <a:endParaRPr lang="pt-BR" sz="1250" noProof="0" dirty="0"/>
          </a:p>
        </p:txBody>
      </p:sp>
      <p:sp>
        <p:nvSpPr>
          <p:cNvPr id="17" name="Shape 13"/>
          <p:cNvSpPr/>
          <p:nvPr/>
        </p:nvSpPr>
        <p:spPr>
          <a:xfrm>
            <a:off x="7755484" y="3858768"/>
            <a:ext cx="292608" cy="237744"/>
          </a:xfrm>
          <a:prstGeom prst="rightArrow">
            <a:avLst/>
          </a:prstGeom>
          <a:solidFill>
            <a:srgbClr val="00D9A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4"/>
          <p:cNvSpPr/>
          <p:nvPr/>
        </p:nvSpPr>
        <p:spPr>
          <a:xfrm>
            <a:off x="8084668" y="2834640"/>
            <a:ext cx="3246120" cy="2286000"/>
          </a:xfrm>
          <a:prstGeom prst="rect">
            <a:avLst/>
          </a:prstGeom>
          <a:solidFill>
            <a:srgbClr val="141C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5"/>
          <p:cNvSpPr/>
          <p:nvPr/>
        </p:nvSpPr>
        <p:spPr>
          <a:xfrm>
            <a:off x="8313268" y="2999232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03B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pt-BR" sz="3000" noProof="0" dirty="0"/>
          </a:p>
        </p:txBody>
      </p:sp>
      <p:sp>
        <p:nvSpPr>
          <p:cNvPr id="20" name="Shape 16"/>
          <p:cNvSpPr/>
          <p:nvPr/>
        </p:nvSpPr>
        <p:spPr>
          <a:xfrm>
            <a:off x="10553548" y="3035808"/>
            <a:ext cx="502920" cy="50292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4190" y="3146450"/>
            <a:ext cx="281635" cy="28163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13268" y="367588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Consolidação</a:t>
            </a:r>
            <a:endParaRPr lang="pt-BR" sz="1700" noProof="0" dirty="0"/>
          </a:p>
        </p:txBody>
      </p:sp>
      <p:sp>
        <p:nvSpPr>
          <p:cNvPr id="23" name="Text 18"/>
          <p:cNvSpPr/>
          <p:nvPr/>
        </p:nvSpPr>
        <p:spPr>
          <a:xfrm>
            <a:off x="8313268" y="41148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10 seções com grau de suporte calculado em código.</a:t>
            </a:r>
            <a:endParaRPr lang="pt-BR" sz="1250" noProof="0" dirty="0"/>
          </a:p>
        </p:txBody>
      </p:sp>
      <p:sp>
        <p:nvSpPr>
          <p:cNvPr id="24" name="Text 1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DE TENDÊNCIAS TECNOLÓGICAS  ·  SENAI FUTURO — IA</a:t>
            </a:r>
            <a:endParaRPr lang="pt-BR" sz="900" noProof="0" dirty="0"/>
          </a:p>
        </p:txBody>
      </p:sp>
      <p:sp>
        <p:nvSpPr>
          <p:cNvPr id="25" name="Text 2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C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300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ARQUITETURA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</a:t>
            </a:r>
            <a:r>
              <a:rPr lang="pt-BR" sz="3000" b="1" noProof="0" dirty="0" err="1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</a:t>
            </a:r>
            <a:r>
              <a:rPr lang="pt-BR" sz="30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ao Cosmos DB — visão completa</a:t>
            </a:r>
            <a:endParaRPr lang="pt-BR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i="1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 + Cosmos DB + </a:t>
            </a:r>
            <a:r>
              <a:rPr lang="pt-BR" sz="1200" i="1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</a:t>
            </a:r>
            <a:r>
              <a:rPr lang="pt-BR" sz="1200" i="1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pt-BR" sz="1200" noProof="0" dirty="0"/>
          </a:p>
        </p:txBody>
      </p:sp>
      <p:sp>
        <p:nvSpPr>
          <p:cNvPr id="5" name="Shape 3"/>
          <p:cNvSpPr/>
          <p:nvPr/>
        </p:nvSpPr>
        <p:spPr>
          <a:xfrm>
            <a:off x="3032608" y="1810512"/>
            <a:ext cx="6126480" cy="502920"/>
          </a:xfrm>
          <a:prstGeom prst="rect">
            <a:avLst/>
          </a:prstGeom>
          <a:solidFill>
            <a:srgbClr val="12332C"/>
          </a:solidFill>
          <a:ln w="12700">
            <a:solidFill>
              <a:srgbClr val="00D9A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3169768" y="181051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b="1" noProof="0" dirty="0" err="1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pt-BR" sz="13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 — Azure App Service</a:t>
            </a:r>
            <a:endParaRPr lang="pt-BR" sz="1300" noProof="0" dirty="0"/>
          </a:p>
        </p:txBody>
      </p:sp>
      <p:sp>
        <p:nvSpPr>
          <p:cNvPr id="7" name="Shape 5"/>
          <p:cNvSpPr/>
          <p:nvPr/>
        </p:nvSpPr>
        <p:spPr>
          <a:xfrm rot="5400000">
            <a:off x="5967832" y="2404872"/>
            <a:ext cx="256032" cy="201168"/>
          </a:xfrm>
          <a:prstGeom prst="rightArrow">
            <a:avLst/>
          </a:prstGeom>
          <a:solidFill>
            <a:srgbClr val="00D9A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3032608" y="2697480"/>
            <a:ext cx="6126480" cy="502920"/>
          </a:xfrm>
          <a:prstGeom prst="rect">
            <a:avLst/>
          </a:prstGeom>
          <a:solidFill>
            <a:srgbClr val="141C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3169768" y="26974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Orquestrador (Python)</a:t>
            </a:r>
            <a:endParaRPr lang="pt-BR" sz="1300" noProof="0" dirty="0"/>
          </a:p>
        </p:txBody>
      </p:sp>
      <p:sp>
        <p:nvSpPr>
          <p:cNvPr id="10" name="Shape 8"/>
          <p:cNvSpPr/>
          <p:nvPr/>
        </p:nvSpPr>
        <p:spPr>
          <a:xfrm rot="5400000">
            <a:off x="5967832" y="3291840"/>
            <a:ext cx="256032" cy="201168"/>
          </a:xfrm>
          <a:prstGeom prst="rightArrow">
            <a:avLst/>
          </a:prstGeom>
          <a:solidFill>
            <a:srgbClr val="00D9A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6324448" y="3264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concorrente</a:t>
            </a:r>
            <a:endParaRPr lang="pt-BR" sz="950" noProof="0" dirty="0"/>
          </a:p>
        </p:txBody>
      </p:sp>
      <p:sp>
        <p:nvSpPr>
          <p:cNvPr id="12" name="Shape 10"/>
          <p:cNvSpPr/>
          <p:nvPr/>
        </p:nvSpPr>
        <p:spPr>
          <a:xfrm>
            <a:off x="3032608" y="3584448"/>
            <a:ext cx="6126480" cy="594360"/>
          </a:xfrm>
          <a:prstGeom prst="rect">
            <a:avLst/>
          </a:prstGeom>
          <a:solidFill>
            <a:srgbClr val="141C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1"/>
          <p:cNvSpPr/>
          <p:nvPr/>
        </p:nvSpPr>
        <p:spPr>
          <a:xfrm>
            <a:off x="6095848" y="3675888"/>
            <a:ext cx="0" cy="411480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3169768" y="358444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b="1" noProof="0" dirty="0" err="1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</a:t>
            </a:r>
            <a:r>
              <a:rPr lang="pt-BR" sz="115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pt-BR" sz="1150" b="1" noProof="0" dirty="0" err="1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</a:t>
            </a:r>
            <a:endParaRPr lang="pt-BR" sz="1150" noProof="0" dirty="0"/>
          </a:p>
          <a:p>
            <a:pPr marL="0" indent="0" algn="ctr">
              <a:buNone/>
            </a:pPr>
            <a:r>
              <a:rPr lang="pt-BR" sz="115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(coleta acadêmica)</a:t>
            </a:r>
            <a:endParaRPr lang="pt-BR" sz="1150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358444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Coletor — </a:t>
            </a:r>
            <a:r>
              <a:rPr lang="pt-BR" sz="1150" b="1" noProof="0" dirty="0" err="1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</a:t>
            </a:r>
            <a:endParaRPr lang="pt-BR" sz="1150" noProof="0" dirty="0"/>
          </a:p>
          <a:p>
            <a:pPr marL="0" indent="0" algn="ctr">
              <a:buNone/>
            </a:pPr>
            <a:r>
              <a:rPr lang="pt-BR" sz="115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· 4 perspectivas</a:t>
            </a:r>
            <a:endParaRPr lang="pt-BR" sz="1150" noProof="0" dirty="0"/>
          </a:p>
        </p:txBody>
      </p:sp>
      <p:sp>
        <p:nvSpPr>
          <p:cNvPr id="16" name="Shape 14"/>
          <p:cNvSpPr/>
          <p:nvPr/>
        </p:nvSpPr>
        <p:spPr>
          <a:xfrm rot="5400000">
            <a:off x="5967832" y="4270248"/>
            <a:ext cx="256032" cy="201168"/>
          </a:xfrm>
          <a:prstGeom prst="rightArrow">
            <a:avLst/>
          </a:prstGeom>
          <a:solidFill>
            <a:srgbClr val="00D9A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6324448" y="42428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</a:t>
            </a:r>
            <a:r>
              <a:rPr lang="pt-BR" sz="950" i="1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numerado</a:t>
            </a:r>
            <a:endParaRPr lang="pt-BR" sz="950" noProof="0" dirty="0"/>
          </a:p>
        </p:txBody>
      </p:sp>
      <p:sp>
        <p:nvSpPr>
          <p:cNvPr id="18" name="Shape 16"/>
          <p:cNvSpPr/>
          <p:nvPr/>
        </p:nvSpPr>
        <p:spPr>
          <a:xfrm>
            <a:off x="3032608" y="4562856"/>
            <a:ext cx="6126480" cy="594360"/>
          </a:xfrm>
          <a:prstGeom prst="rect">
            <a:avLst/>
          </a:prstGeom>
          <a:solidFill>
            <a:srgbClr val="12332C"/>
          </a:solidFill>
          <a:ln w="12700">
            <a:solidFill>
              <a:srgbClr val="00D9A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Shape 17"/>
          <p:cNvSpPr/>
          <p:nvPr/>
        </p:nvSpPr>
        <p:spPr>
          <a:xfrm>
            <a:off x="6095848" y="4654296"/>
            <a:ext cx="0" cy="411480"/>
          </a:xfrm>
          <a:prstGeom prst="line">
            <a:avLst/>
          </a:prstGeom>
          <a:noFill/>
          <a:ln w="12700">
            <a:solidFill>
              <a:srgbClr val="00D9A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8"/>
          <p:cNvSpPr/>
          <p:nvPr/>
        </p:nvSpPr>
        <p:spPr>
          <a:xfrm>
            <a:off x="3169768" y="456285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Sintetizador</a:t>
            </a:r>
            <a:endParaRPr lang="pt-BR" sz="1150" noProof="0" dirty="0"/>
          </a:p>
          <a:p>
            <a:pPr marL="0" indent="0" algn="ctr">
              <a:buNone/>
            </a:pPr>
            <a:r>
              <a:rPr lang="pt-BR" sz="115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pt-BR" sz="1150" b="1" noProof="0" dirty="0" err="1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</a:t>
            </a:r>
            <a:endParaRPr lang="pt-BR" sz="1150" noProof="0" dirty="0"/>
          </a:p>
        </p:txBody>
      </p:sp>
      <p:sp>
        <p:nvSpPr>
          <p:cNvPr id="21" name="Text 19"/>
          <p:cNvSpPr/>
          <p:nvPr/>
        </p:nvSpPr>
        <p:spPr>
          <a:xfrm>
            <a:off x="6233008" y="456285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de suporte</a:t>
            </a:r>
            <a:endParaRPr lang="pt-BR" sz="1150" noProof="0" dirty="0"/>
          </a:p>
          <a:p>
            <a:pPr marL="0" indent="0" algn="ctr">
              <a:buNone/>
            </a:pPr>
            <a:r>
              <a:rPr lang="pt-BR" sz="115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(código determinístico)</a:t>
            </a:r>
            <a:endParaRPr lang="pt-BR" sz="1150" noProof="0" dirty="0"/>
          </a:p>
        </p:txBody>
      </p:sp>
      <p:sp>
        <p:nvSpPr>
          <p:cNvPr id="22" name="Shape 20"/>
          <p:cNvSpPr/>
          <p:nvPr/>
        </p:nvSpPr>
        <p:spPr>
          <a:xfrm rot="5400000">
            <a:off x="5967832" y="5248656"/>
            <a:ext cx="256032" cy="201168"/>
          </a:xfrm>
          <a:prstGeom prst="rightArrow">
            <a:avLst/>
          </a:prstGeom>
          <a:solidFill>
            <a:srgbClr val="00D9A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Shape 21"/>
          <p:cNvSpPr/>
          <p:nvPr/>
        </p:nvSpPr>
        <p:spPr>
          <a:xfrm>
            <a:off x="3032608" y="5541264"/>
            <a:ext cx="6126480" cy="502920"/>
          </a:xfrm>
          <a:prstGeom prst="rect">
            <a:avLst/>
          </a:prstGeom>
          <a:solidFill>
            <a:srgbClr val="1B2438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 22"/>
          <p:cNvSpPr/>
          <p:nvPr/>
        </p:nvSpPr>
        <p:spPr>
          <a:xfrm>
            <a:off x="3169768" y="554126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DB — documento único por relatório</a:t>
            </a:r>
            <a:endParaRPr lang="pt-BR" sz="1300" noProof="0" dirty="0"/>
          </a:p>
        </p:txBody>
      </p:sp>
      <p:sp>
        <p:nvSpPr>
          <p:cNvPr id="25" name="Shape 23"/>
          <p:cNvSpPr/>
          <p:nvPr/>
        </p:nvSpPr>
        <p:spPr>
          <a:xfrm>
            <a:off x="9159088" y="2061972"/>
            <a:ext cx="320040" cy="0"/>
          </a:xfrm>
          <a:prstGeom prst="line">
            <a:avLst/>
          </a:prstGeom>
          <a:noFill/>
          <a:ln w="12700">
            <a:solidFill>
              <a:srgbClr val="8CA0A8"/>
            </a:solidFill>
            <a:prstDash val="dash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Shape 24"/>
          <p:cNvSpPr/>
          <p:nvPr/>
        </p:nvSpPr>
        <p:spPr>
          <a:xfrm>
            <a:off x="9479128" y="1673352"/>
            <a:ext cx="2072488" cy="868680"/>
          </a:xfrm>
          <a:prstGeom prst="rect">
            <a:avLst/>
          </a:prstGeom>
          <a:solidFill>
            <a:srgbClr val="1B2438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9643720" y="1673352"/>
            <a:ext cx="1743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Histórico: reabre relatórios direto do Cosmos, sem nova coleta.</a:t>
            </a:r>
            <a:endParaRPr lang="pt-BR" sz="1100" noProof="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DE TENDÊNCIAS TECNOLÓGICAS  ·  SENAI FUTURO — IA</a:t>
            </a:r>
            <a:endParaRPr lang="pt-BR" sz="900" noProof="0" dirty="0"/>
          </a:p>
        </p:txBody>
      </p:sp>
      <p:sp>
        <p:nvSpPr>
          <p:cNvPr id="29" name="Text 27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C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300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ARQUITETURA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diagrama completo, de ponta a ponta</a:t>
            </a:r>
            <a:endParaRPr lang="pt-BR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i="1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r>
              <a:rPr lang="pt-BR" sz="1200" i="1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escopo, coleta em paralelo, síntese e persistência.</a:t>
            </a:r>
            <a:endParaRPr lang="pt-BR" sz="120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20370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207568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Colocalizado em </a:t>
            </a:r>
            <a:r>
              <a:rPr lang="pt-BR" sz="1500" b="1" noProof="0" dirty="0" err="1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</a:t>
            </a:r>
            <a:r>
              <a:rPr lang="pt-BR" sz="15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South</a:t>
            </a:r>
            <a:endParaRPr lang="pt-BR" sz="1500" noProof="0" dirty="0"/>
          </a:p>
        </p:txBody>
      </p:sp>
      <p:sp>
        <p:nvSpPr>
          <p:cNvPr id="8" name="Text 5"/>
          <p:cNvSpPr/>
          <p:nvPr/>
        </p:nvSpPr>
        <p:spPr>
          <a:xfrm>
            <a:off x="1261872" y="2350008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 + Cosmos DB + </a:t>
            </a:r>
            <a:r>
              <a:rPr lang="pt-BR" sz="1200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</a:t>
            </a:r>
            <a:r>
              <a:rPr lang="pt-BR" sz="12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mesma região para menor latências entre serviços</a:t>
            </a:r>
            <a:endParaRPr lang="pt-BR" sz="1200" noProof="0" dirty="0"/>
          </a:p>
        </p:txBody>
      </p:sp>
      <p:sp>
        <p:nvSpPr>
          <p:cNvPr id="9" name="Shape 6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52958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61872" y="340156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 err="1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r>
              <a:rPr lang="pt-BR" sz="15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antes do pipeline</a:t>
            </a:r>
            <a:endParaRPr lang="pt-BR" sz="1500" noProof="0" dirty="0"/>
          </a:p>
        </p:txBody>
      </p:sp>
      <p:sp>
        <p:nvSpPr>
          <p:cNvPr id="12" name="Text 8"/>
          <p:cNvSpPr/>
          <p:nvPr/>
        </p:nvSpPr>
        <p:spPr>
          <a:xfrm>
            <a:off x="1261872" y="3675888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pt-BR" sz="1200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</a:t>
            </a:r>
            <a:r>
              <a:rPr lang="pt-BR" sz="12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classifica o tema antes de qualquer chamada, isso evita uso indevido.</a:t>
            </a:r>
            <a:endParaRPr lang="pt-BR" sz="1200" noProof="0" dirty="0"/>
          </a:p>
        </p:txBody>
      </p:sp>
      <p:sp>
        <p:nvSpPr>
          <p:cNvPr id="13" name="Shape 9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485546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472744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isoladas e testáveis</a:t>
            </a:r>
            <a:endParaRPr lang="pt-BR" sz="1500" noProof="0" dirty="0"/>
          </a:p>
        </p:txBody>
      </p:sp>
      <p:sp>
        <p:nvSpPr>
          <p:cNvPr id="16" name="Text 11"/>
          <p:cNvSpPr/>
          <p:nvPr/>
        </p:nvSpPr>
        <p:spPr>
          <a:xfrm>
            <a:off x="1261872" y="5001768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Coleta, síntese e persistência são módulos independentes, cada um com sua própria suíte de testes.</a:t>
            </a:r>
            <a:endParaRPr lang="pt-BR" sz="1200" noProof="0" dirty="0"/>
          </a:p>
        </p:txBody>
      </p:sp>
      <p:sp>
        <p:nvSpPr>
          <p:cNvPr id="17" name="Shape 12"/>
          <p:cNvSpPr/>
          <p:nvPr/>
        </p:nvSpPr>
        <p:spPr>
          <a:xfrm>
            <a:off x="4871200" y="1856232"/>
            <a:ext cx="6015456" cy="4425696"/>
          </a:xfrm>
          <a:prstGeom prst="rect">
            <a:avLst/>
          </a:prstGeom>
          <a:solidFill>
            <a:srgbClr val="FFFFFF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pic>
        <p:nvPicPr>
          <p:cNvPr id="18" name="Image 3" descr="C:\Users\carlo\OneDrive\Github\Assistente_pessoal\especialista_ia\research-hub\docs\apresentacao\criterios\01-arquitetura.drawi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0928" y="1965960"/>
            <a:ext cx="5796000" cy="42062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DE TENDÊNCIAS TECNOLÓGICAS  ·  SENAI FUTURO — IA</a:t>
            </a:r>
            <a:endParaRPr lang="pt-BR" sz="900" noProof="0" dirty="0"/>
          </a:p>
        </p:txBody>
      </p:sp>
      <p:sp>
        <p:nvSpPr>
          <p:cNvPr id="20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C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02191" y="-2157984"/>
            <a:ext cx="4681728" cy="4681728"/>
          </a:xfrm>
          <a:prstGeom prst="ellipse">
            <a:avLst/>
          </a:prstGeom>
          <a:ln w="15875">
            <a:solidFill>
              <a:srgbClr val="0A2A3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10051268" y="-1408908"/>
            <a:ext cx="3183575" cy="3183575"/>
          </a:xfrm>
          <a:prstGeom prst="ellipse">
            <a:avLst/>
          </a:prstGeom>
          <a:ln w="15875">
            <a:solidFill>
              <a:srgbClr val="093E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10753527" y="-706648"/>
            <a:ext cx="1779057" cy="1779057"/>
          </a:xfrm>
          <a:prstGeom prst="ellipse">
            <a:avLst/>
          </a:prstGeom>
          <a:ln w="15875">
            <a:solidFill>
              <a:srgbClr val="07625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300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DIFERENCIAL</a:t>
            </a:r>
            <a:endParaRPr lang="pt-BR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Quem gradua a confiança é código, não o modelo</a:t>
            </a:r>
            <a:endParaRPr lang="pt-BR" sz="3000" noProof="0" dirty="0"/>
          </a:p>
        </p:txBody>
      </p:sp>
      <p:sp>
        <p:nvSpPr>
          <p:cNvPr id="7" name="Shape 5"/>
          <p:cNvSpPr/>
          <p:nvPr/>
        </p:nvSpPr>
        <p:spPr>
          <a:xfrm>
            <a:off x="774040" y="1965960"/>
            <a:ext cx="2468880" cy="1828800"/>
          </a:xfrm>
          <a:prstGeom prst="rect">
            <a:avLst/>
          </a:prstGeom>
          <a:solidFill>
            <a:srgbClr val="141C2E"/>
          </a:solidFill>
          <a:ln w="19050">
            <a:solidFill>
              <a:srgbClr val="00D9A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774040" y="1965960"/>
            <a:ext cx="2468880" cy="109728"/>
          </a:xfrm>
          <a:prstGeom prst="rect">
            <a:avLst/>
          </a:prstGeom>
          <a:solidFill>
            <a:srgbClr val="00D9A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91120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ALTO</a:t>
            </a:r>
            <a:endParaRPr lang="pt-BR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911200" y="2834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≥4 evidências</a:t>
            </a:r>
            <a:endParaRPr lang="pt-BR" sz="1250" noProof="0" dirty="0"/>
          </a:p>
          <a:p>
            <a:pPr marL="0" indent="0">
              <a:buNone/>
            </a:pPr>
            <a:r>
              <a:rPr lang="pt-BR" sz="12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≥2 tipos de fonte</a:t>
            </a:r>
            <a:endParaRPr lang="pt-BR" sz="1250" noProof="0" dirty="0"/>
          </a:p>
        </p:txBody>
      </p:sp>
      <p:sp>
        <p:nvSpPr>
          <p:cNvPr id="11" name="Shape 9"/>
          <p:cNvSpPr/>
          <p:nvPr/>
        </p:nvSpPr>
        <p:spPr>
          <a:xfrm>
            <a:off x="3498952" y="1965960"/>
            <a:ext cx="2468880" cy="1828800"/>
          </a:xfrm>
          <a:prstGeom prst="rect">
            <a:avLst/>
          </a:prstGeom>
          <a:solidFill>
            <a:srgbClr val="141C2E"/>
          </a:solidFill>
          <a:ln w="19050">
            <a:solidFill>
              <a:srgbClr val="7BC06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10"/>
          <p:cNvSpPr/>
          <p:nvPr/>
        </p:nvSpPr>
        <p:spPr>
          <a:xfrm>
            <a:off x="3498952" y="1965960"/>
            <a:ext cx="2468880" cy="109728"/>
          </a:xfrm>
          <a:prstGeom prst="rect">
            <a:avLst/>
          </a:prstGeom>
          <a:solidFill>
            <a:srgbClr val="7BC0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3636112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7BC0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MÉDIO</a:t>
            </a:r>
            <a:endParaRPr lang="pt-BR" sz="1800" noProof="0" dirty="0"/>
          </a:p>
        </p:txBody>
      </p:sp>
      <p:sp>
        <p:nvSpPr>
          <p:cNvPr id="14" name="Text 12"/>
          <p:cNvSpPr/>
          <p:nvPr/>
        </p:nvSpPr>
        <p:spPr>
          <a:xfrm>
            <a:off x="3636112" y="2834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evidências,</a:t>
            </a:r>
            <a:endParaRPr lang="pt-BR" sz="1250" noProof="0" dirty="0"/>
          </a:p>
          <a:p>
            <a:pPr marL="0" indent="0">
              <a:buNone/>
            </a:pPr>
            <a:r>
              <a:rPr lang="pt-BR" sz="12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≥4 com 1 tipo</a:t>
            </a:r>
            <a:endParaRPr lang="pt-BR" sz="1250" noProof="0" dirty="0"/>
          </a:p>
        </p:txBody>
      </p:sp>
      <p:sp>
        <p:nvSpPr>
          <p:cNvPr id="15" name="Shape 13"/>
          <p:cNvSpPr/>
          <p:nvPr/>
        </p:nvSpPr>
        <p:spPr>
          <a:xfrm>
            <a:off x="6223864" y="1965960"/>
            <a:ext cx="2468880" cy="1828800"/>
          </a:xfrm>
          <a:prstGeom prst="rect">
            <a:avLst/>
          </a:prstGeom>
          <a:solidFill>
            <a:srgbClr val="141C2E"/>
          </a:solidFill>
          <a:ln w="1905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6223864" y="1965960"/>
            <a:ext cx="2468880" cy="10972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6361024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BAIXO</a:t>
            </a:r>
            <a:endParaRPr lang="pt-BR" sz="1800" noProof="0" dirty="0"/>
          </a:p>
        </p:txBody>
      </p:sp>
      <p:sp>
        <p:nvSpPr>
          <p:cNvPr id="18" name="Text 16"/>
          <p:cNvSpPr/>
          <p:nvPr/>
        </p:nvSpPr>
        <p:spPr>
          <a:xfrm>
            <a:off x="6361024" y="2834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</a:t>
            </a:r>
            <a:endParaRPr lang="pt-BR" sz="1250" noProof="0" dirty="0"/>
          </a:p>
          <a:p>
            <a:pPr marL="0" indent="0">
              <a:buNone/>
            </a:pPr>
            <a:r>
              <a:rPr lang="pt-BR" sz="12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evidência</a:t>
            </a:r>
            <a:endParaRPr lang="pt-BR" sz="1250" noProof="0" dirty="0"/>
          </a:p>
        </p:txBody>
      </p:sp>
      <p:sp>
        <p:nvSpPr>
          <p:cNvPr id="19" name="Shape 17"/>
          <p:cNvSpPr/>
          <p:nvPr/>
        </p:nvSpPr>
        <p:spPr>
          <a:xfrm>
            <a:off x="8948776" y="1965960"/>
            <a:ext cx="2468880" cy="1828800"/>
          </a:xfrm>
          <a:prstGeom prst="rect">
            <a:avLst/>
          </a:prstGeom>
          <a:solidFill>
            <a:srgbClr val="141C2E"/>
          </a:solidFill>
          <a:ln w="19050">
            <a:solidFill>
              <a:srgbClr val="8CA0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8948776" y="1965960"/>
            <a:ext cx="2468880" cy="109728"/>
          </a:xfrm>
          <a:prstGeom prst="rect">
            <a:avLst/>
          </a:prstGeom>
          <a:solidFill>
            <a:srgbClr val="8CA0A8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9085936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8C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INFERÊNCIA</a:t>
            </a:r>
            <a:endParaRPr lang="pt-BR" sz="1800" noProof="0" dirty="0"/>
          </a:p>
        </p:txBody>
      </p:sp>
      <p:sp>
        <p:nvSpPr>
          <p:cNvPr id="22" name="Text 20"/>
          <p:cNvSpPr/>
          <p:nvPr/>
        </p:nvSpPr>
        <p:spPr>
          <a:xfrm>
            <a:off x="9085936" y="2834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evidências —</a:t>
            </a:r>
            <a:endParaRPr lang="pt-BR" sz="1250" noProof="0" dirty="0"/>
          </a:p>
          <a:p>
            <a:pPr marL="0" indent="0">
              <a:buNone/>
            </a:pPr>
            <a:r>
              <a:rPr lang="pt-BR" sz="12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 explicitamente</a:t>
            </a:r>
            <a:endParaRPr lang="pt-BR" sz="1250" noProof="0" dirty="0"/>
          </a:p>
        </p:txBody>
      </p:sp>
      <p:sp>
        <p:nvSpPr>
          <p:cNvPr id="23" name="Shape 21"/>
          <p:cNvSpPr/>
          <p:nvPr/>
        </p:nvSpPr>
        <p:spPr>
          <a:xfrm>
            <a:off x="640080" y="4343400"/>
            <a:ext cx="10911535" cy="1051560"/>
          </a:xfrm>
          <a:prstGeom prst="rect">
            <a:avLst/>
          </a:prstGeom>
          <a:solidFill>
            <a:srgbClr val="1B2438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Shape 22"/>
          <p:cNvSpPr/>
          <p:nvPr/>
        </p:nvSpPr>
        <p:spPr>
          <a:xfrm>
            <a:off x="914400" y="4599432"/>
            <a:ext cx="548640" cy="54864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4720133"/>
            <a:ext cx="307238" cy="30723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645920" y="4480560"/>
            <a:ext cx="96313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Sintetizador só pode </a:t>
            </a:r>
            <a:r>
              <a:rPr lang="pt-BR" sz="135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citar</a:t>
            </a:r>
            <a:r>
              <a:rPr lang="pt-BR" sz="13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evidências. Um módulo separado calcula o grau — e rebaixa para inferência qualquer citação de id inexistente.</a:t>
            </a:r>
            <a:endParaRPr lang="pt-BR" sz="1350" noProof="0" dirty="0"/>
          </a:p>
        </p:txBody>
      </p:sp>
      <p:sp>
        <p:nvSpPr>
          <p:cNvPr id="27" name="Text 2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DE TENDÊNCIAS TECNOLÓGICAS  ·  SENAI FUTURO — IA</a:t>
            </a:r>
            <a:endParaRPr lang="pt-BR" sz="900" noProof="0" dirty="0"/>
          </a:p>
        </p:txBody>
      </p:sp>
      <p:sp>
        <p:nvSpPr>
          <p:cNvPr id="28" name="Text 25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C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300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COLETA DE EVIDÊNCIAS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perguntas concorrentes, 5 tipos de fonte</a:t>
            </a:r>
            <a:endParaRPr lang="pt-BR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Perspectivas (estilo STORM) — rodam em paralelo: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4846320" cy="438912"/>
          </a:xfrm>
          <a:prstGeom prst="rect">
            <a:avLst/>
          </a:prstGeom>
          <a:solidFill>
            <a:srgbClr val="141C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pt-BR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4846320" cy="438912"/>
          </a:xfrm>
          <a:prstGeom prst="rect">
            <a:avLst/>
          </a:prstGeom>
          <a:solidFill>
            <a:srgbClr val="141C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Econômica</a:t>
            </a:r>
            <a:endParaRPr lang="pt-BR" sz="1300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4846320" cy="438912"/>
          </a:xfrm>
          <a:prstGeom prst="rect">
            <a:avLst/>
          </a:prstGeom>
          <a:solidFill>
            <a:srgbClr val="141C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32461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pt-BR" sz="130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4846320" cy="438912"/>
          </a:xfrm>
          <a:prstGeom prst="rect">
            <a:avLst/>
          </a:prstGeom>
          <a:solidFill>
            <a:srgbClr val="141C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868680" y="374904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Regulatória</a:t>
            </a:r>
            <a:endParaRPr lang="pt-BR" sz="1300" noProof="0" dirty="0"/>
          </a:p>
        </p:txBody>
      </p:sp>
      <p:sp>
        <p:nvSpPr>
          <p:cNvPr id="13" name="Shape 11"/>
          <p:cNvSpPr/>
          <p:nvPr/>
        </p:nvSpPr>
        <p:spPr>
          <a:xfrm rot="5400000">
            <a:off x="2935224" y="4288536"/>
            <a:ext cx="256032" cy="219456"/>
          </a:xfrm>
          <a:prstGeom prst="rightArrow">
            <a:avLst/>
          </a:prstGeom>
          <a:solidFill>
            <a:srgbClr val="00D9A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640080" y="4599432"/>
            <a:ext cx="4846320" cy="502920"/>
          </a:xfrm>
          <a:prstGeom prst="rect">
            <a:avLst/>
          </a:prstGeom>
          <a:solidFill>
            <a:srgbClr val="12332C"/>
          </a:solidFill>
          <a:ln w="12700">
            <a:solidFill>
              <a:srgbClr val="00D9A3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640080" y="45994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b="1" noProof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de evidências </a:t>
            </a:r>
            <a:r>
              <a:rPr lang="pt-BR" sz="1250" b="1" noProof="0" dirty="0" err="1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deduplicado</a:t>
            </a:r>
            <a:endParaRPr lang="pt-BR" sz="1250" noProof="0" dirty="0"/>
          </a:p>
        </p:txBody>
      </p:sp>
      <p:sp>
        <p:nvSpPr>
          <p:cNvPr id="16" name="Text 14"/>
          <p:cNvSpPr/>
          <p:nvPr/>
        </p:nvSpPr>
        <p:spPr>
          <a:xfrm>
            <a:off x="640080" y="51937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i="1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 no </a:t>
            </a:r>
            <a:r>
              <a:rPr lang="pt-BR" sz="1050" i="1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</a:t>
            </a:r>
            <a:r>
              <a:rPr lang="pt-BR" sz="1050" i="1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~30s/pergunta — concorrência é obrigatória p/ caber em 5 min (SC-001).</a:t>
            </a:r>
            <a:endParaRPr lang="pt-BR" sz="1050" noProof="0" dirty="0"/>
          </a:p>
        </p:txBody>
      </p:sp>
      <p:sp>
        <p:nvSpPr>
          <p:cNvPr id="17" name="Text 15"/>
          <p:cNvSpPr/>
          <p:nvPr/>
        </p:nvSpPr>
        <p:spPr>
          <a:xfrm>
            <a:off x="6309360" y="1828800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fonte cobertos:</a:t>
            </a:r>
            <a:endParaRPr lang="pt-BR" sz="1300" noProof="0" dirty="0"/>
          </a:p>
        </p:txBody>
      </p:sp>
      <p:sp>
        <p:nvSpPr>
          <p:cNvPr id="18" name="Shape 16"/>
          <p:cNvSpPr/>
          <p:nvPr/>
        </p:nvSpPr>
        <p:spPr>
          <a:xfrm>
            <a:off x="6309360" y="2286000"/>
            <a:ext cx="457200" cy="45720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386584"/>
            <a:ext cx="256032" cy="2560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931152" y="2258568"/>
            <a:ext cx="46204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Científica</a:t>
            </a:r>
            <a:endParaRPr lang="pt-BR" sz="1500" noProof="0" dirty="0"/>
          </a:p>
        </p:txBody>
      </p:sp>
      <p:sp>
        <p:nvSpPr>
          <p:cNvPr id="21" name="Text 18"/>
          <p:cNvSpPr/>
          <p:nvPr/>
        </p:nvSpPr>
        <p:spPr>
          <a:xfrm>
            <a:off x="6931152" y="2532888"/>
            <a:ext cx="46204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</a:t>
            </a:r>
            <a:r>
              <a:rPr lang="pt-BR" sz="12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pt-BR" sz="1200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</a:t>
            </a:r>
            <a:endParaRPr lang="pt-BR" sz="1200" noProof="0" dirty="0"/>
          </a:p>
        </p:txBody>
      </p:sp>
      <p:sp>
        <p:nvSpPr>
          <p:cNvPr id="22" name="Shape 19"/>
          <p:cNvSpPr/>
          <p:nvPr/>
        </p:nvSpPr>
        <p:spPr>
          <a:xfrm>
            <a:off x="6309360" y="2907792"/>
            <a:ext cx="457200" cy="45720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008376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931152" y="2880360"/>
            <a:ext cx="46204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pt-BR" sz="1500" noProof="0" dirty="0"/>
          </a:p>
        </p:txBody>
      </p:sp>
      <p:sp>
        <p:nvSpPr>
          <p:cNvPr id="25" name="Text 21"/>
          <p:cNvSpPr/>
          <p:nvPr/>
        </p:nvSpPr>
        <p:spPr>
          <a:xfrm>
            <a:off x="6931152" y="3154680"/>
            <a:ext cx="46204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consultorias</a:t>
            </a:r>
            <a:endParaRPr lang="pt-BR" sz="1200" noProof="0" dirty="0"/>
          </a:p>
        </p:txBody>
      </p:sp>
      <p:sp>
        <p:nvSpPr>
          <p:cNvPr id="26" name="Shape 22"/>
          <p:cNvSpPr/>
          <p:nvPr/>
        </p:nvSpPr>
        <p:spPr>
          <a:xfrm>
            <a:off x="6309360" y="3529584"/>
            <a:ext cx="457200" cy="45720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44" y="3630168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931152" y="3502152"/>
            <a:ext cx="46204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Notícia</a:t>
            </a:r>
            <a:endParaRPr lang="pt-BR" sz="1500" noProof="0" dirty="0"/>
          </a:p>
        </p:txBody>
      </p:sp>
      <p:sp>
        <p:nvSpPr>
          <p:cNvPr id="29" name="Text 24"/>
          <p:cNvSpPr/>
          <p:nvPr/>
        </p:nvSpPr>
        <p:spPr>
          <a:xfrm>
            <a:off x="6931152" y="3776472"/>
            <a:ext cx="46204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imprensa especializada</a:t>
            </a:r>
            <a:endParaRPr lang="pt-BR" sz="1200" noProof="0" dirty="0"/>
          </a:p>
        </p:txBody>
      </p:sp>
      <p:sp>
        <p:nvSpPr>
          <p:cNvPr id="30" name="Shape 25"/>
          <p:cNvSpPr/>
          <p:nvPr/>
        </p:nvSpPr>
        <p:spPr>
          <a:xfrm>
            <a:off x="6309360" y="4151376"/>
            <a:ext cx="457200" cy="45720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944" y="4251960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931152" y="4123944"/>
            <a:ext cx="46204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Corporativa</a:t>
            </a:r>
            <a:endParaRPr lang="pt-BR" sz="1500" noProof="0" dirty="0"/>
          </a:p>
        </p:txBody>
      </p:sp>
      <p:sp>
        <p:nvSpPr>
          <p:cNvPr id="33" name="Text 27"/>
          <p:cNvSpPr/>
          <p:nvPr/>
        </p:nvSpPr>
        <p:spPr>
          <a:xfrm>
            <a:off x="6931152" y="4398264"/>
            <a:ext cx="46204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endParaRPr lang="pt-BR" sz="1200" noProof="0" dirty="0"/>
          </a:p>
        </p:txBody>
      </p:sp>
      <p:sp>
        <p:nvSpPr>
          <p:cNvPr id="34" name="Shape 28"/>
          <p:cNvSpPr/>
          <p:nvPr/>
        </p:nvSpPr>
        <p:spPr>
          <a:xfrm>
            <a:off x="6309360" y="4773168"/>
            <a:ext cx="457200" cy="45720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9944" y="4873752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931152" y="4745736"/>
            <a:ext cx="46204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Patente</a:t>
            </a:r>
            <a:endParaRPr lang="pt-BR" sz="1500" noProof="0" dirty="0"/>
          </a:p>
        </p:txBody>
      </p:sp>
      <p:sp>
        <p:nvSpPr>
          <p:cNvPr id="37" name="Text 30"/>
          <p:cNvSpPr/>
          <p:nvPr/>
        </p:nvSpPr>
        <p:spPr>
          <a:xfrm>
            <a:off x="6931152" y="5020056"/>
            <a:ext cx="46204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via busca</a:t>
            </a:r>
            <a:endParaRPr lang="pt-BR" sz="1200" noProof="0" dirty="0"/>
          </a:p>
        </p:txBody>
      </p:sp>
      <p:sp>
        <p:nvSpPr>
          <p:cNvPr id="38" name="Shape 31"/>
          <p:cNvSpPr/>
          <p:nvPr/>
        </p:nvSpPr>
        <p:spPr>
          <a:xfrm>
            <a:off x="640080" y="5742432"/>
            <a:ext cx="10911535" cy="0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9" name="Text 32"/>
          <p:cNvSpPr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50" i="1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Shao et al., STORM — NAACL 2024, </a:t>
            </a:r>
            <a:r>
              <a:rPr lang="pt-BR" sz="1050" b="1" i="1" noProof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OVAL</a:t>
            </a:r>
            <a:r>
              <a:rPr lang="pt-BR" sz="1050" i="1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(Open Virtual </a:t>
            </a:r>
            <a:r>
              <a:rPr lang="pt-BR" sz="1050" i="1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r>
              <a:rPr lang="pt-BR" sz="1050" i="1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1050" i="1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r>
              <a:rPr lang="pt-BR" sz="1050" i="1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Adaptada, não importada — sem o framework `</a:t>
            </a:r>
            <a:r>
              <a:rPr lang="pt-BR" sz="1050" i="1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knowledge-storm</a:t>
            </a:r>
            <a:r>
              <a:rPr lang="pt-BR" sz="1050" i="1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`.</a:t>
            </a:r>
            <a:endParaRPr lang="pt-BR" sz="1050" noProof="0" dirty="0"/>
          </a:p>
        </p:txBody>
      </p:sp>
      <p:sp>
        <p:nvSpPr>
          <p:cNvPr id="40" name="Text 3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DE TENDÊNCIAS TECNOLÓGICAS  ·  SENAI FUTURO — IA</a:t>
            </a:r>
            <a:endParaRPr lang="pt-BR" sz="900" noProof="0" dirty="0"/>
          </a:p>
        </p:txBody>
      </p:sp>
      <p:sp>
        <p:nvSpPr>
          <p:cNvPr id="41" name="Text 3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C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300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DEMONSTRAÇÃO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sistema em funcionamento</a:t>
            </a:r>
            <a:endParaRPr lang="pt-B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3566160"/>
          </a:xfrm>
          <a:prstGeom prst="rect">
            <a:avLst/>
          </a:prstGeom>
          <a:solidFill>
            <a:srgbClr val="141C2E"/>
          </a:solidFill>
          <a:ln w="19050">
            <a:solidFill>
              <a:srgbClr val="00D9A3"/>
            </a:solidFill>
            <a:prstDash val="dash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5730088" y="2880360"/>
            <a:ext cx="731520" cy="73152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968" y="30632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703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i="1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inserir GIF de navegação pelo sistema aqui ]</a:t>
            </a:r>
            <a:endParaRPr lang="pt-BR" sz="13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557784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Gerar painel novo</a:t>
            </a:r>
            <a:endParaRPr lang="pt-BR" sz="1300" noProof="0" dirty="0"/>
          </a:p>
        </p:txBody>
      </p:sp>
      <p:sp>
        <p:nvSpPr>
          <p:cNvPr id="9" name="Text 6"/>
          <p:cNvSpPr/>
          <p:nvPr/>
        </p:nvSpPr>
        <p:spPr>
          <a:xfrm>
            <a:off x="4368698" y="557784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Reabrir do histórico</a:t>
            </a:r>
            <a:endParaRPr lang="pt-BR" sz="1300" noProof="0" dirty="0"/>
          </a:p>
        </p:txBody>
      </p:sp>
      <p:sp>
        <p:nvSpPr>
          <p:cNvPr id="10" name="Text 7"/>
          <p:cNvSpPr/>
          <p:nvPr/>
        </p:nvSpPr>
        <p:spPr>
          <a:xfrm>
            <a:off x="8097317" y="557784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Explorar evidências</a:t>
            </a:r>
            <a:endParaRPr lang="pt-BR" sz="1300" noProof="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DE TENDÊNCIAS TECNOLÓGICAS  ·  SENAI FUTURO — IA</a:t>
            </a:r>
            <a:endParaRPr lang="pt-BR" sz="900" noProof="0" dirty="0"/>
          </a:p>
        </p:txBody>
      </p:sp>
      <p:sp>
        <p:nvSpPr>
          <p:cNvPr id="12" name="Text 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C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300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RESULTADOS REAIS — SMOKE TEST EM PRODUÇÃO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2 temas do desafio, de ponta a ponta</a:t>
            </a:r>
            <a:endParaRPr lang="pt-B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7168" cy="3749040"/>
          </a:xfrm>
          <a:prstGeom prst="rect">
            <a:avLst/>
          </a:prstGeom>
          <a:solidFill>
            <a:srgbClr val="141C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AI</a:t>
            </a:r>
            <a:endParaRPr lang="pt-BR" sz="1800" noProof="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123s</a:t>
            </a:r>
            <a:endParaRPr lang="pt-BR" sz="3000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3273552"/>
            <a:ext cx="215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total</a:t>
            </a:r>
            <a:endParaRPr lang="pt-BR" sz="1050" noProof="0" dirty="0"/>
          </a:p>
        </p:txBody>
      </p:sp>
      <p:sp>
        <p:nvSpPr>
          <p:cNvPr id="8" name="Text 6"/>
          <p:cNvSpPr/>
          <p:nvPr/>
        </p:nvSpPr>
        <p:spPr>
          <a:xfrm>
            <a:off x="3253664" y="274320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pt-BR" sz="3000" noProof="0" dirty="0"/>
          </a:p>
        </p:txBody>
      </p:sp>
      <p:sp>
        <p:nvSpPr>
          <p:cNvPr id="9" name="Text 7"/>
          <p:cNvSpPr/>
          <p:nvPr/>
        </p:nvSpPr>
        <p:spPr>
          <a:xfrm>
            <a:off x="3253664" y="3273552"/>
            <a:ext cx="215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coletadas</a:t>
            </a:r>
            <a:endParaRPr lang="pt-BR" sz="1050" noProof="0" dirty="0"/>
          </a:p>
        </p:txBody>
      </p:sp>
      <p:sp>
        <p:nvSpPr>
          <p:cNvPr id="10" name="Text 8"/>
          <p:cNvSpPr/>
          <p:nvPr/>
        </p:nvSpPr>
        <p:spPr>
          <a:xfrm>
            <a:off x="914400" y="379476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pt-BR" sz="3000" noProof="0" dirty="0"/>
          </a:p>
        </p:txBody>
      </p:sp>
      <p:sp>
        <p:nvSpPr>
          <p:cNvPr id="11" name="Text 9"/>
          <p:cNvSpPr/>
          <p:nvPr/>
        </p:nvSpPr>
        <p:spPr>
          <a:xfrm>
            <a:off x="914400" y="4325112"/>
            <a:ext cx="215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fonte</a:t>
            </a:r>
            <a:endParaRPr lang="pt-BR" sz="1050" noProof="0" dirty="0"/>
          </a:p>
        </p:txBody>
      </p:sp>
      <p:sp>
        <p:nvSpPr>
          <p:cNvPr id="12" name="Text 10"/>
          <p:cNvSpPr/>
          <p:nvPr/>
        </p:nvSpPr>
        <p:spPr>
          <a:xfrm>
            <a:off x="3253664" y="379476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10/10</a:t>
            </a:r>
            <a:endParaRPr lang="pt-BR" sz="3000" noProof="0" dirty="0"/>
          </a:p>
        </p:txBody>
      </p:sp>
      <p:sp>
        <p:nvSpPr>
          <p:cNvPr id="13" name="Text 11"/>
          <p:cNvSpPr/>
          <p:nvPr/>
        </p:nvSpPr>
        <p:spPr>
          <a:xfrm>
            <a:off x="3253664" y="4325112"/>
            <a:ext cx="215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seções geradas</a:t>
            </a:r>
            <a:endParaRPr lang="pt-BR" sz="1050" noProof="0" dirty="0"/>
          </a:p>
        </p:txBody>
      </p:sp>
      <p:sp>
        <p:nvSpPr>
          <p:cNvPr id="14" name="Shape 12"/>
          <p:cNvSpPr/>
          <p:nvPr/>
        </p:nvSpPr>
        <p:spPr>
          <a:xfrm>
            <a:off x="914400" y="4937760"/>
            <a:ext cx="4678528" cy="0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914400" y="5074920"/>
            <a:ext cx="365760" cy="36576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5148072"/>
            <a:ext cx="21945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371600" y="50749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SC-001 (≤5min)</a:t>
            </a:r>
            <a:endParaRPr lang="pt-BR" sz="1150" noProof="0" dirty="0"/>
          </a:p>
        </p:txBody>
      </p:sp>
      <p:sp>
        <p:nvSpPr>
          <p:cNvPr id="18" name="Shape 15"/>
          <p:cNvSpPr/>
          <p:nvPr/>
        </p:nvSpPr>
        <p:spPr>
          <a:xfrm>
            <a:off x="3482264" y="5074920"/>
            <a:ext cx="365760" cy="36576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416" y="5148072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939464" y="50749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SC-005 (≥3 tipos)</a:t>
            </a:r>
            <a:endParaRPr lang="pt-BR" sz="1150" noProof="0" dirty="0"/>
          </a:p>
        </p:txBody>
      </p:sp>
      <p:sp>
        <p:nvSpPr>
          <p:cNvPr id="21" name="Shape 17"/>
          <p:cNvSpPr/>
          <p:nvPr/>
        </p:nvSpPr>
        <p:spPr>
          <a:xfrm>
            <a:off x="6324448" y="1874520"/>
            <a:ext cx="5227168" cy="3749040"/>
          </a:xfrm>
          <a:prstGeom prst="rect">
            <a:avLst/>
          </a:prstGeom>
          <a:solidFill>
            <a:srgbClr val="141C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18"/>
          <p:cNvSpPr/>
          <p:nvPr/>
        </p:nvSpPr>
        <p:spPr>
          <a:xfrm>
            <a:off x="6598768" y="210312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Robôs Humanoides p/ Indústria</a:t>
            </a:r>
            <a:endParaRPr lang="pt-BR" sz="1800" noProof="0" dirty="0"/>
          </a:p>
        </p:txBody>
      </p:sp>
      <p:sp>
        <p:nvSpPr>
          <p:cNvPr id="23" name="Text 19"/>
          <p:cNvSpPr/>
          <p:nvPr/>
        </p:nvSpPr>
        <p:spPr>
          <a:xfrm>
            <a:off x="6598768" y="274320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36,8s</a:t>
            </a:r>
            <a:endParaRPr lang="pt-BR" sz="3000" noProof="0" dirty="0"/>
          </a:p>
        </p:txBody>
      </p:sp>
      <p:sp>
        <p:nvSpPr>
          <p:cNvPr id="24" name="Text 20"/>
          <p:cNvSpPr/>
          <p:nvPr/>
        </p:nvSpPr>
        <p:spPr>
          <a:xfrm>
            <a:off x="6598768" y="3273552"/>
            <a:ext cx="215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total</a:t>
            </a:r>
            <a:endParaRPr lang="pt-BR" sz="1050" noProof="0" dirty="0"/>
          </a:p>
        </p:txBody>
      </p:sp>
      <p:sp>
        <p:nvSpPr>
          <p:cNvPr id="25" name="Text 21"/>
          <p:cNvSpPr/>
          <p:nvPr/>
        </p:nvSpPr>
        <p:spPr>
          <a:xfrm>
            <a:off x="8938031" y="274320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pt-BR" sz="3000" noProof="0" dirty="0"/>
          </a:p>
        </p:txBody>
      </p:sp>
      <p:sp>
        <p:nvSpPr>
          <p:cNvPr id="26" name="Text 22"/>
          <p:cNvSpPr/>
          <p:nvPr/>
        </p:nvSpPr>
        <p:spPr>
          <a:xfrm>
            <a:off x="8938031" y="3273552"/>
            <a:ext cx="215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coletadas</a:t>
            </a:r>
            <a:endParaRPr lang="pt-BR" sz="1050" noProof="0" dirty="0"/>
          </a:p>
        </p:txBody>
      </p:sp>
      <p:sp>
        <p:nvSpPr>
          <p:cNvPr id="27" name="Text 23"/>
          <p:cNvSpPr/>
          <p:nvPr/>
        </p:nvSpPr>
        <p:spPr>
          <a:xfrm>
            <a:off x="6598768" y="379476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pt-BR" sz="3000" noProof="0" dirty="0"/>
          </a:p>
        </p:txBody>
      </p:sp>
      <p:sp>
        <p:nvSpPr>
          <p:cNvPr id="28" name="Text 24"/>
          <p:cNvSpPr/>
          <p:nvPr/>
        </p:nvSpPr>
        <p:spPr>
          <a:xfrm>
            <a:off x="6598768" y="4325112"/>
            <a:ext cx="215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fonte</a:t>
            </a:r>
            <a:endParaRPr lang="pt-BR" sz="1050" noProof="0" dirty="0"/>
          </a:p>
        </p:txBody>
      </p:sp>
      <p:sp>
        <p:nvSpPr>
          <p:cNvPr id="29" name="Text 25"/>
          <p:cNvSpPr/>
          <p:nvPr/>
        </p:nvSpPr>
        <p:spPr>
          <a:xfrm>
            <a:off x="8938031" y="379476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10/10</a:t>
            </a:r>
            <a:endParaRPr lang="pt-BR" sz="3000" noProof="0" dirty="0"/>
          </a:p>
        </p:txBody>
      </p:sp>
      <p:sp>
        <p:nvSpPr>
          <p:cNvPr id="30" name="Text 26"/>
          <p:cNvSpPr/>
          <p:nvPr/>
        </p:nvSpPr>
        <p:spPr>
          <a:xfrm>
            <a:off x="8938031" y="4325112"/>
            <a:ext cx="215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seções geradas</a:t>
            </a:r>
            <a:endParaRPr lang="pt-BR" sz="1050" noProof="0" dirty="0"/>
          </a:p>
        </p:txBody>
      </p:sp>
      <p:sp>
        <p:nvSpPr>
          <p:cNvPr id="31" name="Shape 27"/>
          <p:cNvSpPr/>
          <p:nvPr/>
        </p:nvSpPr>
        <p:spPr>
          <a:xfrm>
            <a:off x="6598768" y="4937760"/>
            <a:ext cx="4678528" cy="0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Shape 28"/>
          <p:cNvSpPr/>
          <p:nvPr/>
        </p:nvSpPr>
        <p:spPr>
          <a:xfrm>
            <a:off x="6598768" y="5074920"/>
            <a:ext cx="365760" cy="36576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920" y="5148072"/>
            <a:ext cx="219456" cy="21945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055968" y="50749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SC-001 (≤5min)</a:t>
            </a:r>
            <a:endParaRPr lang="pt-BR" sz="1150" noProof="0" dirty="0"/>
          </a:p>
        </p:txBody>
      </p:sp>
      <p:sp>
        <p:nvSpPr>
          <p:cNvPr id="35" name="Shape 30"/>
          <p:cNvSpPr/>
          <p:nvPr/>
        </p:nvSpPr>
        <p:spPr>
          <a:xfrm>
            <a:off x="9166631" y="5074920"/>
            <a:ext cx="365760" cy="36576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783" y="5148072"/>
            <a:ext cx="219456" cy="21945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623831" y="50749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SC-005 (≥3 tipos)</a:t>
            </a:r>
            <a:endParaRPr lang="pt-BR" sz="1150" noProof="0" dirty="0"/>
          </a:p>
        </p:txBody>
      </p:sp>
      <p:sp>
        <p:nvSpPr>
          <p:cNvPr id="38" name="Text 3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DE TENDÊNCIAS TECNOLÓGICAS  ·  SENAI FUTURO — IA</a:t>
            </a:r>
            <a:endParaRPr lang="pt-BR" sz="900" noProof="0" dirty="0"/>
          </a:p>
        </p:txBody>
      </p:sp>
      <p:sp>
        <p:nvSpPr>
          <p:cNvPr id="39" name="Text 3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C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300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MATURIDADE DE ENGENHARIA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de 6 bugs reais — corrigidos antes da banca</a:t>
            </a:r>
            <a:endParaRPr lang="pt-B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2697480"/>
            <a:ext cx="3393338" cy="2423160"/>
          </a:xfrm>
          <a:prstGeom prst="rect">
            <a:avLst/>
          </a:prstGeom>
          <a:solidFill>
            <a:srgbClr val="141C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68680" y="2898648"/>
            <a:ext cx="457200" cy="457200"/>
          </a:xfrm>
          <a:prstGeom prst="ellipse">
            <a:avLst/>
          </a:prstGeom>
          <a:solidFill>
            <a:srgbClr val="1B2438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99923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502152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malformado derrubava a coleta</a:t>
            </a:r>
            <a:endParaRPr lang="pt-BR" sz="1300" noProof="0" dirty="0"/>
          </a:p>
        </p:txBody>
      </p:sp>
      <p:sp>
        <p:nvSpPr>
          <p:cNvPr id="8" name="Text 5"/>
          <p:cNvSpPr/>
          <p:nvPr/>
        </p:nvSpPr>
        <p:spPr>
          <a:xfrm>
            <a:off x="868680" y="4050792"/>
            <a:ext cx="2936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campo nulo do </a:t>
            </a:r>
            <a:r>
              <a:rPr lang="pt-BR" sz="1100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</a:t>
            </a:r>
            <a:r>
              <a:rPr lang="pt-BR" sz="11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escapava sem tratamento e abortava a análise inteira.</a:t>
            </a:r>
            <a:endParaRPr lang="pt-BR" sz="1100" noProof="0" dirty="0"/>
          </a:p>
        </p:txBody>
      </p:sp>
      <p:sp>
        <p:nvSpPr>
          <p:cNvPr id="9" name="Text 6"/>
          <p:cNvSpPr/>
          <p:nvPr/>
        </p:nvSpPr>
        <p:spPr>
          <a:xfrm>
            <a:off x="868680" y="4773168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corrigido + teste de regressão</a:t>
            </a:r>
            <a:endParaRPr lang="pt-BR" sz="1000" noProof="0" dirty="0"/>
          </a:p>
        </p:txBody>
      </p:sp>
      <p:sp>
        <p:nvSpPr>
          <p:cNvPr id="10" name="Shape 7"/>
          <p:cNvSpPr/>
          <p:nvPr/>
        </p:nvSpPr>
        <p:spPr>
          <a:xfrm>
            <a:off x="4399178" y="2697480"/>
            <a:ext cx="3393338" cy="2423160"/>
          </a:xfrm>
          <a:prstGeom prst="rect">
            <a:avLst/>
          </a:prstGeom>
          <a:solidFill>
            <a:srgbClr val="141C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4627778" y="2898648"/>
            <a:ext cx="457200" cy="457200"/>
          </a:xfrm>
          <a:prstGeom prst="ellipse">
            <a:avLst/>
          </a:prstGeom>
          <a:solidFill>
            <a:srgbClr val="1B2438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362" y="299923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27778" y="3502152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 b="1" noProof="0" dirty="0" err="1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</a:t>
            </a:r>
            <a:r>
              <a:rPr lang="pt-BR" sz="13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migrou para HTTPS</a:t>
            </a:r>
            <a:endParaRPr lang="pt-BR" sz="1300" noProof="0" dirty="0"/>
          </a:p>
        </p:txBody>
      </p:sp>
      <p:sp>
        <p:nvSpPr>
          <p:cNvPr id="14" name="Text 10"/>
          <p:cNvSpPr/>
          <p:nvPr/>
        </p:nvSpPr>
        <p:spPr>
          <a:xfrm>
            <a:off x="4627778" y="4050792"/>
            <a:ext cx="2936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</a:t>
            </a:r>
            <a:r>
              <a:rPr lang="pt-BR" sz="11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não seguido pelo cliente HTTP — coleta acadêmica degradava 100% das vezes.</a:t>
            </a:r>
            <a:endParaRPr lang="pt-BR" sz="1100" noProof="0" dirty="0"/>
          </a:p>
        </p:txBody>
      </p:sp>
      <p:sp>
        <p:nvSpPr>
          <p:cNvPr id="15" name="Text 11"/>
          <p:cNvSpPr/>
          <p:nvPr/>
        </p:nvSpPr>
        <p:spPr>
          <a:xfrm>
            <a:off x="4627778" y="4773168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corrigido + teste de regressão</a:t>
            </a:r>
            <a:endParaRPr lang="pt-BR" sz="1000" noProof="0" dirty="0"/>
          </a:p>
        </p:txBody>
      </p:sp>
      <p:sp>
        <p:nvSpPr>
          <p:cNvPr id="16" name="Shape 12"/>
          <p:cNvSpPr/>
          <p:nvPr/>
        </p:nvSpPr>
        <p:spPr>
          <a:xfrm>
            <a:off x="8158277" y="2697480"/>
            <a:ext cx="3393338" cy="2423160"/>
          </a:xfrm>
          <a:prstGeom prst="rect">
            <a:avLst/>
          </a:prstGeom>
          <a:solidFill>
            <a:srgbClr val="141C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13"/>
          <p:cNvSpPr/>
          <p:nvPr/>
        </p:nvSpPr>
        <p:spPr>
          <a:xfrm>
            <a:off x="8386877" y="2898648"/>
            <a:ext cx="457200" cy="457200"/>
          </a:xfrm>
          <a:prstGeom prst="ellipse">
            <a:avLst/>
          </a:prstGeom>
          <a:solidFill>
            <a:srgbClr val="1B2438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461" y="299923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86877" y="3502152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API não tratado na síntese</a:t>
            </a:r>
            <a:endParaRPr lang="pt-BR" sz="1300" noProof="0" dirty="0"/>
          </a:p>
        </p:txBody>
      </p:sp>
      <p:sp>
        <p:nvSpPr>
          <p:cNvPr id="20" name="Text 15"/>
          <p:cNvSpPr/>
          <p:nvPr/>
        </p:nvSpPr>
        <p:spPr>
          <a:xfrm>
            <a:off x="8386877" y="4050792"/>
            <a:ext cx="2936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rate </a:t>
            </a:r>
            <a:r>
              <a:rPr lang="pt-BR" sz="1100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r>
              <a:rPr lang="pt-BR" sz="11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 do modelo escapava do orquestrador e travava o processo.</a:t>
            </a:r>
            <a:endParaRPr lang="pt-BR" sz="1100" noProof="0" dirty="0"/>
          </a:p>
        </p:txBody>
      </p:sp>
      <p:sp>
        <p:nvSpPr>
          <p:cNvPr id="21" name="Text 16"/>
          <p:cNvSpPr/>
          <p:nvPr/>
        </p:nvSpPr>
        <p:spPr>
          <a:xfrm>
            <a:off x="8386877" y="4773168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corrigido + teste de regressão</a:t>
            </a:r>
            <a:endParaRPr lang="pt-BR" sz="1000" noProof="0" dirty="0"/>
          </a:p>
        </p:txBody>
      </p:sp>
      <p:sp>
        <p:nvSpPr>
          <p:cNvPr id="22" name="Text 17"/>
          <p:cNvSpPr/>
          <p:nvPr/>
        </p:nvSpPr>
        <p:spPr>
          <a:xfrm>
            <a:off x="640080" y="53949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i="1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 3 vieram da revisão de código automatizada — lista completa em </a:t>
            </a:r>
            <a:r>
              <a:rPr lang="pt-BR" sz="1250" i="1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r>
              <a:rPr lang="pt-BR" sz="1250" i="1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/critical-review.md. Nenhum apareceu em testes </a:t>
            </a:r>
            <a:r>
              <a:rPr lang="pt-BR" sz="1250" i="1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mockados</a:t>
            </a:r>
            <a:r>
              <a:rPr lang="pt-BR" sz="1250" i="1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só contra APIs reais.</a:t>
            </a:r>
            <a:endParaRPr lang="pt-BR" sz="1250" noProof="0" dirty="0"/>
          </a:p>
        </p:txBody>
      </p:sp>
      <p:sp>
        <p:nvSpPr>
          <p:cNvPr id="23" name="Text 1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DE TENDÊNCIAS TECNOLÓGICAS  ·  SENAI FUTURO — IA</a:t>
            </a:r>
            <a:endParaRPr lang="pt-BR" sz="900" noProof="0" dirty="0"/>
          </a:p>
        </p:txBody>
      </p:sp>
      <p:sp>
        <p:nvSpPr>
          <p:cNvPr id="24" name="Text 1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C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300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QUALIDADE DE IMPLEMENTAÇÃO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Documentação como maturidade de gestão do conhecimento</a:t>
            </a:r>
            <a:endParaRPr lang="pt-B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" y="1916582"/>
            <a:ext cx="190195" cy="1901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773936"/>
            <a:ext cx="592531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 </a:t>
            </a:r>
            <a:r>
              <a:rPr lang="pt-BR" sz="11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visão geral, arquitetura em 1 parágrafo e </a:t>
            </a:r>
            <a:r>
              <a:rPr lang="pt-BR" sz="1150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quickstart</a:t>
            </a:r>
            <a:endParaRPr lang="pt-BR" sz="1150" noProof="0" dirty="0"/>
          </a:p>
        </p:txBody>
      </p:sp>
      <p:sp>
        <p:nvSpPr>
          <p:cNvPr id="7" name="Shape 4"/>
          <p:cNvSpPr/>
          <p:nvPr/>
        </p:nvSpPr>
        <p:spPr>
          <a:xfrm>
            <a:off x="640080" y="2345436"/>
            <a:ext cx="365760" cy="36576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62" y="2433218"/>
            <a:ext cx="190195" cy="1901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5568" y="2290572"/>
            <a:ext cx="592531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docs/architecture.md  </a:t>
            </a:r>
            <a:r>
              <a:rPr lang="pt-BR" sz="11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decisões técnicas e justificativas, com diagrama</a:t>
            </a:r>
            <a:endParaRPr lang="pt-BR" sz="1150" noProof="0" dirty="0"/>
          </a:p>
        </p:txBody>
      </p:sp>
      <p:sp>
        <p:nvSpPr>
          <p:cNvPr id="10" name="Shape 6"/>
          <p:cNvSpPr/>
          <p:nvPr/>
        </p:nvSpPr>
        <p:spPr>
          <a:xfrm>
            <a:off x="640080" y="2862072"/>
            <a:ext cx="365760" cy="36576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" y="2949854"/>
            <a:ext cx="190195" cy="1901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15568" y="2807208"/>
            <a:ext cx="592531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docs/critical-review.md  </a:t>
            </a:r>
            <a:r>
              <a:rPr lang="pt-BR" sz="11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autoavaliação crítica contínua, achados reais datados</a:t>
            </a:r>
            <a:endParaRPr lang="pt-BR" sz="1150" noProof="0" dirty="0"/>
          </a:p>
        </p:txBody>
      </p:sp>
      <p:sp>
        <p:nvSpPr>
          <p:cNvPr id="13" name="Shape 8"/>
          <p:cNvSpPr/>
          <p:nvPr/>
        </p:nvSpPr>
        <p:spPr>
          <a:xfrm>
            <a:off x="640080" y="3378708"/>
            <a:ext cx="365760" cy="36576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862" y="3466490"/>
            <a:ext cx="190195" cy="19019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15568" y="3323844"/>
            <a:ext cx="592531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infra/provision.md + RUNBOOK  </a:t>
            </a:r>
            <a:r>
              <a:rPr lang="pt-BR" sz="11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provisionamento, </a:t>
            </a:r>
            <a:r>
              <a:rPr lang="pt-BR" sz="1150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r>
              <a:rPr lang="pt-BR" sz="11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operação passo a passo</a:t>
            </a:r>
            <a:endParaRPr lang="pt-BR" sz="1150" noProof="0" dirty="0"/>
          </a:p>
        </p:txBody>
      </p:sp>
      <p:sp>
        <p:nvSpPr>
          <p:cNvPr id="16" name="Shape 10"/>
          <p:cNvSpPr/>
          <p:nvPr/>
        </p:nvSpPr>
        <p:spPr>
          <a:xfrm>
            <a:off x="640080" y="3895344"/>
            <a:ext cx="365760" cy="36576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862" y="3983126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15568" y="3840480"/>
            <a:ext cx="592531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0" dirty="0" err="1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r>
              <a:rPr lang="pt-BR" sz="115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-Kit (</a:t>
            </a:r>
            <a:r>
              <a:rPr lang="pt-BR" sz="1150" b="1" noProof="0" dirty="0" err="1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</a:t>
            </a:r>
            <a:r>
              <a:rPr lang="pt-BR" sz="115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pt-BR" sz="1150" b="1" noProof="0" dirty="0" err="1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r>
              <a:rPr lang="pt-BR" sz="115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pt-BR" sz="1150" b="1" noProof="0" dirty="0" err="1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r>
              <a:rPr lang="pt-BR" sz="115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pt-BR" sz="1150" b="1" noProof="0" dirty="0" err="1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r>
              <a:rPr lang="pt-BR" sz="115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</a:t>
            </a:r>
            <a:r>
              <a:rPr lang="pt-BR" sz="11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especificação formal e rastreável, não improvisada</a:t>
            </a:r>
            <a:endParaRPr lang="pt-BR" sz="1150" noProof="0" dirty="0"/>
          </a:p>
        </p:txBody>
      </p:sp>
      <p:sp>
        <p:nvSpPr>
          <p:cNvPr id="19" name="Shape 12"/>
          <p:cNvSpPr/>
          <p:nvPr/>
        </p:nvSpPr>
        <p:spPr>
          <a:xfrm>
            <a:off x="640080" y="4411980"/>
            <a:ext cx="365760" cy="36576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862" y="4499762"/>
            <a:ext cx="190195" cy="19019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15568" y="4357116"/>
            <a:ext cx="592531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arguição + critérios de avaliação  </a:t>
            </a:r>
            <a:r>
              <a:rPr lang="pt-BR" sz="11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material de defesa mapeado aos critérios da banca</a:t>
            </a:r>
            <a:endParaRPr lang="pt-BR" sz="1150" noProof="0" dirty="0"/>
          </a:p>
        </p:txBody>
      </p:sp>
      <p:sp>
        <p:nvSpPr>
          <p:cNvPr id="22" name="Shape 14"/>
          <p:cNvSpPr/>
          <p:nvPr/>
        </p:nvSpPr>
        <p:spPr>
          <a:xfrm>
            <a:off x="640080" y="4928616"/>
            <a:ext cx="365760" cy="36576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862" y="5016398"/>
            <a:ext cx="190195" cy="19019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15568" y="4873752"/>
            <a:ext cx="592531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Book (novo)  </a:t>
            </a:r>
            <a:r>
              <a:rPr lang="pt-BR" sz="11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referência única do projeto para quem herdar ou avaliar</a:t>
            </a:r>
            <a:endParaRPr lang="pt-BR" sz="1150" noProof="0" dirty="0"/>
          </a:p>
        </p:txBody>
      </p:sp>
      <p:sp>
        <p:nvSpPr>
          <p:cNvPr id="25" name="Shape 16"/>
          <p:cNvSpPr/>
          <p:nvPr/>
        </p:nvSpPr>
        <p:spPr>
          <a:xfrm>
            <a:off x="7360920" y="1828800"/>
            <a:ext cx="4190695" cy="3570732"/>
          </a:xfrm>
          <a:prstGeom prst="rect">
            <a:avLst/>
          </a:prstGeom>
          <a:solidFill>
            <a:srgbClr val="1B2438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Shape 17"/>
          <p:cNvSpPr/>
          <p:nvPr/>
        </p:nvSpPr>
        <p:spPr>
          <a:xfrm>
            <a:off x="7635240" y="2084832"/>
            <a:ext cx="548640" cy="54864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5941" y="2205533"/>
            <a:ext cx="307238" cy="30723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321040" y="2103120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de conhecimento</a:t>
            </a:r>
            <a:endParaRPr lang="pt-BR" sz="1400" noProof="0" dirty="0"/>
          </a:p>
        </p:txBody>
      </p:sp>
      <p:sp>
        <p:nvSpPr>
          <p:cNvPr id="29" name="Text 19"/>
          <p:cNvSpPr/>
          <p:nvPr/>
        </p:nvSpPr>
        <p:spPr>
          <a:xfrm>
            <a:off x="8321040" y="2395728"/>
            <a:ext cx="3001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i="1" noProof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 — não um </a:t>
            </a:r>
            <a:r>
              <a:rPr lang="pt-BR" sz="1050" i="1" noProof="0" dirty="0" err="1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r>
              <a:rPr lang="pt-BR" sz="1050" i="1" noProof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mais</a:t>
            </a:r>
            <a:endParaRPr lang="pt-BR" sz="1050" noProof="0" dirty="0"/>
          </a:p>
        </p:txBody>
      </p:sp>
      <p:sp>
        <p:nvSpPr>
          <p:cNvPr id="30" name="Text 20"/>
          <p:cNvSpPr/>
          <p:nvPr/>
        </p:nvSpPr>
        <p:spPr>
          <a:xfrm>
            <a:off x="7635240" y="2880360"/>
            <a:ext cx="3642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194 nós · 334 arestas · 9 camadas · 15 passos guiados</a:t>
            </a:r>
            <a:endParaRPr lang="pt-BR" sz="1250" noProof="0" dirty="0"/>
          </a:p>
        </p:txBody>
      </p:sp>
      <p:sp>
        <p:nvSpPr>
          <p:cNvPr id="31" name="Text 21"/>
          <p:cNvSpPr/>
          <p:nvPr/>
        </p:nvSpPr>
        <p:spPr>
          <a:xfrm>
            <a:off x="7635240" y="3337560"/>
            <a:ext cx="3642055" cy="1970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Extraído automaticamente do código-fonte real via IA — documentação viva que nunca fica desatualizada, navegável por um tour guiado interativo. Pouco comum neste tipo de projeto.</a:t>
            </a:r>
            <a:endParaRPr lang="pt-BR" sz="1100" noProof="0" dirty="0"/>
          </a:p>
        </p:txBody>
      </p:sp>
      <p:sp>
        <p:nvSpPr>
          <p:cNvPr id="36" name="Text 2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DE TENDÊNCIAS TECNOLÓGICAS  ·  SENAI FUTURO — IA</a:t>
            </a:r>
            <a:endParaRPr lang="pt-BR" sz="900" noProof="0" dirty="0"/>
          </a:p>
        </p:txBody>
      </p:sp>
      <p:sp>
        <p:nvSpPr>
          <p:cNvPr id="37" name="Text 2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C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300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AVALIAÇÃO CRÍTICA — CUSTOS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custa operar isso de verdade</a:t>
            </a:r>
            <a:endParaRPr lang="pt-B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21323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9748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~US$14-15</a:t>
            </a:r>
            <a:endParaRPr lang="pt-BR" sz="2700" noProof="0" dirty="0"/>
          </a:p>
        </p:txBody>
      </p:sp>
      <p:sp>
        <p:nvSpPr>
          <p:cNvPr id="7" name="Text 4"/>
          <p:cNvSpPr/>
          <p:nvPr/>
        </p:nvSpPr>
        <p:spPr>
          <a:xfrm>
            <a:off x="914400" y="33375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fixo por mês</a:t>
            </a:r>
            <a:endParaRPr lang="pt-BR" sz="1300" noProof="0" dirty="0"/>
          </a:p>
          <a:p>
            <a:pPr marL="0" indent="0">
              <a:buNone/>
            </a:pPr>
            <a:r>
              <a:rPr lang="pt-BR" sz="13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 Service + Cosmos)</a:t>
            </a:r>
            <a:endParaRPr lang="pt-BR" sz="1300" noProof="0" dirty="0"/>
          </a:p>
        </p:txBody>
      </p:sp>
      <p:sp>
        <p:nvSpPr>
          <p:cNvPr id="8" name="Shape 5"/>
          <p:cNvSpPr/>
          <p:nvPr/>
        </p:nvSpPr>
        <p:spPr>
          <a:xfrm>
            <a:off x="4754880" y="2011680"/>
            <a:ext cx="548640" cy="54864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581" y="213238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0" y="269748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~US$0,20-0,50</a:t>
            </a:r>
            <a:endParaRPr lang="pt-BR" sz="2700" noProof="0" dirty="0"/>
          </a:p>
        </p:txBody>
      </p:sp>
      <p:sp>
        <p:nvSpPr>
          <p:cNvPr id="11" name="Text 7"/>
          <p:cNvSpPr/>
          <p:nvPr/>
        </p:nvSpPr>
        <p:spPr>
          <a:xfrm>
            <a:off x="4754880" y="33375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análise</a:t>
            </a:r>
            <a:endParaRPr lang="pt-BR" sz="1300" noProof="0" dirty="0"/>
          </a:p>
          <a:p>
            <a:pPr marL="0" indent="0">
              <a:buNone/>
            </a:pPr>
            <a:r>
              <a:rPr lang="pt-BR" sz="13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(tokens + busca)</a:t>
            </a:r>
            <a:endParaRPr lang="pt-BR" sz="1300" noProof="0" dirty="0"/>
          </a:p>
        </p:txBody>
      </p:sp>
      <p:sp>
        <p:nvSpPr>
          <p:cNvPr id="12" name="Shape 8"/>
          <p:cNvSpPr/>
          <p:nvPr/>
        </p:nvSpPr>
        <p:spPr>
          <a:xfrm>
            <a:off x="8732520" y="1874520"/>
            <a:ext cx="2819095" cy="2468880"/>
          </a:xfrm>
          <a:prstGeom prst="rect">
            <a:avLst/>
          </a:prstGeom>
          <a:solidFill>
            <a:srgbClr val="1B2438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9"/>
          <p:cNvSpPr/>
          <p:nvPr/>
        </p:nvSpPr>
        <p:spPr>
          <a:xfrm>
            <a:off x="8961120" y="2057400"/>
            <a:ext cx="23618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pt-BR" sz="12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 B1</a:t>
            </a:r>
            <a:endParaRPr lang="pt-BR" sz="1200" noProof="0" dirty="0"/>
          </a:p>
          <a:p>
            <a:pPr marL="0" indent="0">
              <a:lnSpc>
                <a:spcPct val="140000"/>
              </a:lnSpc>
              <a:buNone/>
            </a:pPr>
            <a:r>
              <a:rPr lang="pt-BR" sz="12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DB </a:t>
            </a:r>
            <a:r>
              <a:rPr lang="pt-BR" sz="1200" b="1" noProof="0" dirty="0" err="1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pt-BR" sz="1200" noProof="0" dirty="0"/>
          </a:p>
          <a:p>
            <a:pPr marL="0" indent="0">
              <a:lnSpc>
                <a:spcPct val="140000"/>
              </a:lnSpc>
              <a:buNone/>
            </a:pPr>
            <a:r>
              <a:rPr lang="pt-BR" sz="1200" b="1" noProof="0" dirty="0" err="1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</a:t>
            </a:r>
            <a:r>
              <a:rPr lang="pt-BR" sz="12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Web Search</a:t>
            </a:r>
            <a:endParaRPr lang="pt-BR" sz="1200" noProof="0" dirty="0"/>
          </a:p>
          <a:p>
            <a:pPr marL="0" indent="0">
              <a:lnSpc>
                <a:spcPct val="140000"/>
              </a:lnSpc>
              <a:buNone/>
            </a:pPr>
            <a:r>
              <a:rPr lang="pt-BR" sz="12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token e por chamada</a:t>
            </a:r>
            <a:endParaRPr lang="pt-BR" sz="1200" noProof="0" dirty="0"/>
          </a:p>
        </p:txBody>
      </p:sp>
      <p:sp>
        <p:nvSpPr>
          <p:cNvPr id="14" name="Text 10"/>
          <p:cNvSpPr/>
          <p:nvPr/>
        </p:nvSpPr>
        <p:spPr>
          <a:xfrm>
            <a:off x="640080" y="46634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i="1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exato pendente de confirmação via Azure </a:t>
            </a:r>
            <a:r>
              <a:rPr lang="pt-BR" sz="1250" i="1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r>
              <a:rPr lang="pt-BR" sz="1250" i="1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Management — estimativa declarada, não inventada.</a:t>
            </a:r>
            <a:endParaRPr lang="pt-BR" sz="1250" noProof="0" dirty="0"/>
          </a:p>
        </p:txBody>
      </p:sp>
      <p:sp>
        <p:nvSpPr>
          <p:cNvPr id="15" name="Text 1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DE TENDÊNCIAS TECNOLÓGICAS  ·  SENAI FUTURO — IA</a:t>
            </a:r>
            <a:endParaRPr lang="pt-BR" sz="900" noProof="0" dirty="0"/>
          </a:p>
        </p:txBody>
      </p:sp>
      <p:sp>
        <p:nvSpPr>
          <p:cNvPr id="16" name="Text 1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C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300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AVALIAÇÃO CRÍTICA — VIESES E LIMITAÇÕES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sabemos que não resolvemos</a:t>
            </a:r>
            <a:endParaRPr lang="pt-B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11226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984248"/>
            <a:ext cx="455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de fonte</a:t>
            </a:r>
            <a:endParaRPr lang="pt-BR" sz="1500" noProof="0" dirty="0"/>
          </a:p>
        </p:txBody>
      </p:sp>
      <p:sp>
        <p:nvSpPr>
          <p:cNvPr id="7" name="Text 4"/>
          <p:cNvSpPr/>
          <p:nvPr/>
        </p:nvSpPr>
        <p:spPr>
          <a:xfrm>
            <a:off x="1261872" y="2258568"/>
            <a:ext cx="455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Consultorias pagas só entram pelo material público que elas divulgam.</a:t>
            </a:r>
            <a:endParaRPr lang="pt-BR" sz="1200" noProof="0" dirty="0"/>
          </a:p>
        </p:txBody>
      </p:sp>
      <p:sp>
        <p:nvSpPr>
          <p:cNvPr id="8" name="Shape 5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48386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3355848"/>
            <a:ext cx="455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de idioma</a:t>
            </a:r>
            <a:endParaRPr lang="pt-BR" sz="1500" noProof="0" dirty="0"/>
          </a:p>
        </p:txBody>
      </p:sp>
      <p:sp>
        <p:nvSpPr>
          <p:cNvPr id="11" name="Text 7"/>
          <p:cNvSpPr/>
          <p:nvPr/>
        </p:nvSpPr>
        <p:spPr>
          <a:xfrm>
            <a:off x="1261872" y="3630168"/>
            <a:ext cx="455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predominantemente em inglês; painel sempre em português.</a:t>
            </a:r>
            <a:endParaRPr lang="pt-BR" sz="1200" noProof="0" dirty="0"/>
          </a:p>
        </p:txBody>
      </p:sp>
      <p:sp>
        <p:nvSpPr>
          <p:cNvPr id="12" name="Shape 8"/>
          <p:cNvSpPr/>
          <p:nvPr/>
        </p:nvSpPr>
        <p:spPr>
          <a:xfrm>
            <a:off x="6370168" y="2011680"/>
            <a:ext cx="457200" cy="45720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752" y="211226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91960" y="1984248"/>
            <a:ext cx="455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de modelo</a:t>
            </a:r>
            <a:endParaRPr lang="pt-BR" sz="1500" noProof="0" dirty="0"/>
          </a:p>
        </p:txBody>
      </p:sp>
      <p:sp>
        <p:nvSpPr>
          <p:cNvPr id="15" name="Text 10"/>
          <p:cNvSpPr/>
          <p:nvPr/>
        </p:nvSpPr>
        <p:spPr>
          <a:xfrm>
            <a:off x="6991960" y="2258568"/>
            <a:ext cx="455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Mitigado: só afirma com citação; grau nunca é autoavaliado pelo LLM.</a:t>
            </a:r>
            <a:endParaRPr lang="pt-BR" sz="1200" noProof="0" dirty="0"/>
          </a:p>
        </p:txBody>
      </p:sp>
      <p:sp>
        <p:nvSpPr>
          <p:cNvPr id="16" name="Shape 11"/>
          <p:cNvSpPr/>
          <p:nvPr/>
        </p:nvSpPr>
        <p:spPr>
          <a:xfrm>
            <a:off x="6370168" y="3383280"/>
            <a:ext cx="457200" cy="45720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752" y="348386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91960" y="3355848"/>
            <a:ext cx="455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Patentes sem API dedicada</a:t>
            </a:r>
            <a:endParaRPr lang="pt-BR" sz="1500" noProof="0" dirty="0"/>
          </a:p>
        </p:txBody>
      </p:sp>
      <p:sp>
        <p:nvSpPr>
          <p:cNvPr id="19" name="Text 13"/>
          <p:cNvSpPr/>
          <p:nvPr/>
        </p:nvSpPr>
        <p:spPr>
          <a:xfrm>
            <a:off x="6991960" y="3630168"/>
            <a:ext cx="455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Cobertas só por sinais via busca — EPO OPS avaliada e adiada por prazo.</a:t>
            </a:r>
            <a:endParaRPr lang="pt-BR" sz="1200" noProof="0" dirty="0"/>
          </a:p>
        </p:txBody>
      </p:sp>
      <p:sp>
        <p:nvSpPr>
          <p:cNvPr id="20" name="Shape 14"/>
          <p:cNvSpPr/>
          <p:nvPr/>
        </p:nvSpPr>
        <p:spPr>
          <a:xfrm>
            <a:off x="640080" y="5074920"/>
            <a:ext cx="10911535" cy="960120"/>
          </a:xfrm>
          <a:prstGeom prst="rect">
            <a:avLst/>
          </a:prstGeom>
          <a:solidFill>
            <a:srgbClr val="1B2438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5"/>
          <p:cNvSpPr/>
          <p:nvPr/>
        </p:nvSpPr>
        <p:spPr>
          <a:xfrm>
            <a:off x="914400" y="5285232"/>
            <a:ext cx="502920" cy="50292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042" y="5395874"/>
            <a:ext cx="281635" cy="28163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00200" y="5184648"/>
            <a:ext cx="9677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viés aqui é “resolvido” — são mitigados por desenho (citação obrigatória, graduação em código) e documentados honestamente para a arguição.</a:t>
            </a:r>
            <a:endParaRPr lang="pt-BR" sz="1300" noProof="0" dirty="0"/>
          </a:p>
        </p:txBody>
      </p:sp>
      <p:sp>
        <p:nvSpPr>
          <p:cNvPr id="24" name="Text 17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DE TENDÊNCIAS TECNOLÓGICAS  ·  SENAI FUTURO — IA</a:t>
            </a:r>
            <a:endParaRPr lang="pt-BR" sz="900" noProof="0" dirty="0"/>
          </a:p>
        </p:txBody>
      </p:sp>
      <p:sp>
        <p:nvSpPr>
          <p:cNvPr id="25" name="Text 1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C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300" noProof="0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PRÓXIMOS PASSOS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Evoluções priorizadas</a:t>
            </a:r>
            <a:endParaRPr lang="pt-B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1962851" cy="2103120"/>
          </a:xfrm>
          <a:prstGeom prst="rect">
            <a:avLst/>
          </a:prstGeom>
          <a:solidFill>
            <a:srgbClr val="141C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1392906" y="3246120"/>
            <a:ext cx="457200" cy="45720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490" y="334670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913632"/>
            <a:ext cx="1779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200" b="1" noProof="0" dirty="0" err="1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Co-STORM</a:t>
            </a:r>
            <a:endParaRPr lang="pt-BR" sz="1200" noProof="0" dirty="0"/>
          </a:p>
        </p:txBody>
      </p:sp>
      <p:sp>
        <p:nvSpPr>
          <p:cNvPr id="8" name="Text 5"/>
          <p:cNvSpPr/>
          <p:nvPr/>
        </p:nvSpPr>
        <p:spPr>
          <a:xfrm>
            <a:off x="731520" y="4389120"/>
            <a:ext cx="17799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coleta e síntese — agentes colaborativos</a:t>
            </a:r>
            <a:endParaRPr lang="pt-BR" sz="950" noProof="0" dirty="0"/>
          </a:p>
        </p:txBody>
      </p:sp>
      <p:sp>
        <p:nvSpPr>
          <p:cNvPr id="9" name="Shape 6"/>
          <p:cNvSpPr/>
          <p:nvPr/>
        </p:nvSpPr>
        <p:spPr>
          <a:xfrm>
            <a:off x="2877251" y="3017520"/>
            <a:ext cx="1962851" cy="2103120"/>
          </a:xfrm>
          <a:prstGeom prst="rect">
            <a:avLst/>
          </a:prstGeom>
          <a:solidFill>
            <a:srgbClr val="141C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7"/>
          <p:cNvSpPr/>
          <p:nvPr/>
        </p:nvSpPr>
        <p:spPr>
          <a:xfrm>
            <a:off x="3630077" y="3246120"/>
            <a:ext cx="457200" cy="45720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661" y="334670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68691" y="3913632"/>
            <a:ext cx="1779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2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Patentes e bases acadêmicas dedicadas</a:t>
            </a:r>
            <a:endParaRPr lang="pt-BR" sz="1200" noProof="0" dirty="0"/>
          </a:p>
        </p:txBody>
      </p:sp>
      <p:sp>
        <p:nvSpPr>
          <p:cNvPr id="13" name="Text 9"/>
          <p:cNvSpPr/>
          <p:nvPr/>
        </p:nvSpPr>
        <p:spPr>
          <a:xfrm>
            <a:off x="2968691" y="4389120"/>
            <a:ext cx="17799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EPO OPS, API Scopus, API IEEE e </a:t>
            </a:r>
            <a:r>
              <a:rPr lang="pt-BR" sz="950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endParaRPr lang="pt-BR" sz="950" noProof="0" dirty="0"/>
          </a:p>
        </p:txBody>
      </p:sp>
      <p:sp>
        <p:nvSpPr>
          <p:cNvPr id="14" name="Shape 10"/>
          <p:cNvSpPr/>
          <p:nvPr/>
        </p:nvSpPr>
        <p:spPr>
          <a:xfrm>
            <a:off x="5114422" y="3017520"/>
            <a:ext cx="1962851" cy="2103120"/>
          </a:xfrm>
          <a:prstGeom prst="rect">
            <a:avLst/>
          </a:prstGeom>
          <a:solidFill>
            <a:srgbClr val="141C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1"/>
          <p:cNvSpPr/>
          <p:nvPr/>
        </p:nvSpPr>
        <p:spPr>
          <a:xfrm>
            <a:off x="5867248" y="3246120"/>
            <a:ext cx="457200" cy="45720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7832" y="334670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05862" y="3913632"/>
            <a:ext cx="1779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2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Multiusuário</a:t>
            </a:r>
            <a:endParaRPr lang="pt-BR" sz="1200" noProof="0" dirty="0"/>
          </a:p>
        </p:txBody>
      </p:sp>
      <p:sp>
        <p:nvSpPr>
          <p:cNvPr id="18" name="Text 13"/>
          <p:cNvSpPr/>
          <p:nvPr/>
        </p:nvSpPr>
        <p:spPr>
          <a:xfrm>
            <a:off x="5205862" y="4389120"/>
            <a:ext cx="17799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r>
              <a:rPr lang="pt-BR" sz="9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950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r>
              <a:rPr lang="pt-BR" sz="9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Entra ID</a:t>
            </a:r>
            <a:endParaRPr lang="pt-BR" sz="950" noProof="0" dirty="0"/>
          </a:p>
        </p:txBody>
      </p:sp>
      <p:sp>
        <p:nvSpPr>
          <p:cNvPr id="19" name="Shape 14"/>
          <p:cNvSpPr/>
          <p:nvPr/>
        </p:nvSpPr>
        <p:spPr>
          <a:xfrm>
            <a:off x="7351593" y="3017520"/>
            <a:ext cx="1962851" cy="2103120"/>
          </a:xfrm>
          <a:prstGeom prst="rect">
            <a:avLst/>
          </a:prstGeom>
          <a:solidFill>
            <a:srgbClr val="141C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5"/>
          <p:cNvSpPr/>
          <p:nvPr/>
        </p:nvSpPr>
        <p:spPr>
          <a:xfrm>
            <a:off x="8104419" y="3246120"/>
            <a:ext cx="457200" cy="45720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003" y="334670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43033" y="3913632"/>
            <a:ext cx="1779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2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</a:t>
            </a:r>
            <a:endParaRPr lang="pt-BR" sz="1200" noProof="0" dirty="0"/>
          </a:p>
        </p:txBody>
      </p:sp>
      <p:sp>
        <p:nvSpPr>
          <p:cNvPr id="23" name="Text 17"/>
          <p:cNvSpPr/>
          <p:nvPr/>
        </p:nvSpPr>
        <p:spPr>
          <a:xfrm>
            <a:off x="7443033" y="4389120"/>
            <a:ext cx="17799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</a:t>
            </a:r>
            <a:r>
              <a:rPr lang="pt-BR" sz="950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r>
              <a:rPr lang="pt-BR" sz="9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timer</a:t>
            </a:r>
            <a:endParaRPr lang="pt-BR" sz="950" noProof="0" dirty="0"/>
          </a:p>
        </p:txBody>
      </p:sp>
      <p:sp>
        <p:nvSpPr>
          <p:cNvPr id="24" name="Shape 18"/>
          <p:cNvSpPr/>
          <p:nvPr/>
        </p:nvSpPr>
        <p:spPr>
          <a:xfrm>
            <a:off x="9588764" y="3017520"/>
            <a:ext cx="1962851" cy="2103120"/>
          </a:xfrm>
          <a:prstGeom prst="rect">
            <a:avLst/>
          </a:prstGeom>
          <a:solidFill>
            <a:srgbClr val="141C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Shape 19"/>
          <p:cNvSpPr/>
          <p:nvPr/>
        </p:nvSpPr>
        <p:spPr>
          <a:xfrm>
            <a:off x="10341590" y="3246120"/>
            <a:ext cx="457200" cy="45720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2174" y="334670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80204" y="3913632"/>
            <a:ext cx="1779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200" b="1" noProof="0" dirty="0" err="1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r>
              <a:rPr lang="pt-BR" sz="1200" b="1" noProof="0" dirty="0">
                <a:solidFill>
                  <a:srgbClr val="E8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Agentes</a:t>
            </a:r>
            <a:endParaRPr lang="pt-BR" sz="1200" noProof="0" dirty="0"/>
          </a:p>
        </p:txBody>
      </p:sp>
      <p:sp>
        <p:nvSpPr>
          <p:cNvPr id="28" name="Text 21"/>
          <p:cNvSpPr/>
          <p:nvPr/>
        </p:nvSpPr>
        <p:spPr>
          <a:xfrm>
            <a:off x="9680204" y="4389120"/>
            <a:ext cx="17799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r>
              <a:rPr lang="pt-BR" sz="95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segurança, auditoria e </a:t>
            </a:r>
            <a:r>
              <a:rPr lang="pt-BR" sz="950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</a:t>
            </a:r>
            <a:endParaRPr lang="pt-BR" sz="950" noProof="0" dirty="0"/>
          </a:p>
        </p:txBody>
      </p:sp>
      <p:sp>
        <p:nvSpPr>
          <p:cNvPr id="29" name="Text 2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DE TENDÊNCIAS TECNOLÓGICAS  ·  SENAI FUTURO — IA</a:t>
            </a:r>
            <a:endParaRPr lang="pt-BR" sz="900" noProof="0" dirty="0"/>
          </a:p>
        </p:txBody>
      </p:sp>
      <p:sp>
        <p:nvSpPr>
          <p:cNvPr id="30" name="Text 2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00" noProof="0" dirty="0">
                <a:solidFill>
                  <a:srgbClr val="8C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39151" y="-3621024"/>
            <a:ext cx="7607808" cy="7607808"/>
          </a:xfrm>
          <a:prstGeom prst="ellipse">
            <a:avLst/>
          </a:prstGeom>
          <a:ln w="15875">
            <a:solidFill>
              <a:srgbClr val="0A2A3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9056400" y="-2403775"/>
            <a:ext cx="5173309" cy="5173309"/>
          </a:xfrm>
          <a:prstGeom prst="ellipse">
            <a:avLst/>
          </a:prstGeom>
          <a:ln w="15875">
            <a:solidFill>
              <a:srgbClr val="093E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10197572" y="-1262604"/>
            <a:ext cx="2890967" cy="2890967"/>
          </a:xfrm>
          <a:prstGeom prst="ellipse">
            <a:avLst/>
          </a:prstGeom>
          <a:ln w="15875">
            <a:solidFill>
              <a:srgbClr val="07625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-2084832" y="3675888"/>
            <a:ext cx="5266944" cy="5266944"/>
          </a:xfrm>
          <a:prstGeom prst="ellipse">
            <a:avLst/>
          </a:prstGeom>
          <a:ln w="15875">
            <a:solidFill>
              <a:srgbClr val="0A2A3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-1242121" y="4518599"/>
            <a:ext cx="3581522" cy="3581522"/>
          </a:xfrm>
          <a:prstGeom prst="ellipse">
            <a:avLst/>
          </a:prstGeom>
          <a:ln w="15875">
            <a:solidFill>
              <a:srgbClr val="093E3D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-452079" y="5308641"/>
            <a:ext cx="2001439" cy="2001439"/>
          </a:xfrm>
          <a:prstGeom prst="ellipse">
            <a:avLst/>
          </a:prstGeom>
          <a:ln w="15875">
            <a:solidFill>
              <a:srgbClr val="07625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5638648" y="1920240"/>
            <a:ext cx="914400" cy="914400"/>
          </a:xfrm>
          <a:prstGeom prst="ellipse">
            <a:avLst/>
          </a:prstGeom>
          <a:solidFill>
            <a:srgbClr val="12332C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388" y="212598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0" y="30632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800" b="1" noProof="0" dirty="0">
                <a:solidFill>
                  <a:srgbClr val="E8E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Obrigado.</a:t>
            </a:r>
            <a:endParaRPr lang="pt-BR" sz="3800" noProof="0" dirty="0"/>
          </a:p>
        </p:txBody>
      </p:sp>
      <p:sp>
        <p:nvSpPr>
          <p:cNvPr id="11" name="Text 8"/>
          <p:cNvSpPr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i="1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Perguntas, críticas e sugestões são bem-vindas.</a:t>
            </a:r>
            <a:endParaRPr lang="pt-BR" sz="1600" noProof="0" dirty="0"/>
          </a:p>
        </p:txBody>
      </p:sp>
      <p:sp>
        <p:nvSpPr>
          <p:cNvPr id="12" name="Shape 9"/>
          <p:cNvSpPr/>
          <p:nvPr/>
        </p:nvSpPr>
        <p:spPr>
          <a:xfrm>
            <a:off x="3947008" y="4709160"/>
            <a:ext cx="365760" cy="365760"/>
          </a:xfrm>
          <a:prstGeom prst="ellipse">
            <a:avLst/>
          </a:prstGeom>
          <a:solidFill>
            <a:srgbClr val="1B2438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0160" y="478231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04208" y="4709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</a:t>
            </a:r>
            <a:r>
              <a:rPr lang="pt-BR" sz="1300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Carlosaaajr</a:t>
            </a:r>
            <a:r>
              <a:rPr lang="pt-BR" sz="1300" noProof="0" dirty="0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/radar-tendencias-</a:t>
            </a:r>
            <a:r>
              <a:rPr lang="pt-BR" sz="1300" noProof="0" dirty="0" err="1">
                <a:solidFill>
                  <a:srgbClr val="8C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tecnologicas</a:t>
            </a:r>
            <a:endParaRPr lang="pt-BR" sz="13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1306</Words>
  <Application>Microsoft Office PowerPoint</Application>
  <PresentationFormat>Widescreen</PresentationFormat>
  <Paragraphs>233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Radar de Tendências Tecnológicas</dc:title>
  <dc:subject>PptxGenJS Presentation</dc:subject>
  <dc:creator>Carlos Araújo Jr.</dc:creator>
  <cp:lastModifiedBy>Carlos Araújo</cp:lastModifiedBy>
  <cp:revision>1</cp:revision>
  <dcterms:created xsi:type="dcterms:W3CDTF">2026-07-07T16:39:19Z</dcterms:created>
  <dcterms:modified xsi:type="dcterms:W3CDTF">2026-07-07T18:03:24Z</dcterms:modified>
</cp:coreProperties>
</file>