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Araújo" userId="b2c4e7b3d374cd22" providerId="LiveId" clId="{CBC3F478-1899-44E5-9FBF-9CC91F9DC4A1}"/>
    <pc:docChg chg="custSel modSld">
      <pc:chgData name="Carlos Araújo" userId="b2c4e7b3d374cd22" providerId="LiveId" clId="{CBC3F478-1899-44E5-9FBF-9CC91F9DC4A1}" dt="2026-07-07T10:24:41.927" v="624" actId="20577"/>
      <pc:docMkLst>
        <pc:docMk/>
      </pc:docMkLst>
      <pc:sldChg chg="modSp mod">
        <pc:chgData name="Carlos Araújo" userId="b2c4e7b3d374cd22" providerId="LiveId" clId="{CBC3F478-1899-44E5-9FBF-9CC91F9DC4A1}" dt="2026-07-07T10:23:38.267" v="548" actId="14100"/>
        <pc:sldMkLst>
          <pc:docMk/>
          <pc:sldMk cId="0" sldId="257"/>
        </pc:sldMkLst>
        <pc:spChg chg="mod">
          <ac:chgData name="Carlos Araújo" userId="b2c4e7b3d374cd22" providerId="LiveId" clId="{CBC3F478-1899-44E5-9FBF-9CC91F9DC4A1}" dt="2026-07-07T10:23:38.267" v="548" actId="14100"/>
          <ac:spMkLst>
            <pc:docMk/>
            <pc:sldMk cId="0" sldId="257"/>
            <ac:spMk id="8" creationId="{00000000-0000-0000-0000-000000000000}"/>
          </ac:spMkLst>
        </pc:spChg>
        <pc:spChg chg="mod">
          <ac:chgData name="Carlos Araújo" userId="b2c4e7b3d374cd22" providerId="LiveId" clId="{CBC3F478-1899-44E5-9FBF-9CC91F9DC4A1}" dt="2026-07-07T10:20:49.570" v="0" actId="20577"/>
          <ac:spMkLst>
            <pc:docMk/>
            <pc:sldMk cId="0" sldId="257"/>
            <ac:spMk id="9" creationId="{00000000-0000-0000-0000-000000000000}"/>
          </ac:spMkLst>
        </pc:spChg>
      </pc:sldChg>
      <pc:sldChg chg="modSp mod">
        <pc:chgData name="Carlos Araújo" userId="b2c4e7b3d374cd22" providerId="LiveId" clId="{CBC3F478-1899-44E5-9FBF-9CC91F9DC4A1}" dt="2026-07-07T10:24:41.927" v="624" actId="20577"/>
        <pc:sldMkLst>
          <pc:docMk/>
          <pc:sldMk cId="0" sldId="258"/>
        </pc:sldMkLst>
        <pc:spChg chg="mod">
          <ac:chgData name="Carlos Araújo" userId="b2c4e7b3d374cd22" providerId="LiveId" clId="{CBC3F478-1899-44E5-9FBF-9CC91F9DC4A1}" dt="2026-07-07T10:24:41.927" v="624" actId="20577"/>
          <ac:spMkLst>
            <pc:docMk/>
            <pc:sldMk cId="0" sldId="258"/>
            <ac:spMk id="2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735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3621024"/>
            <a:ext cx="7607808" cy="760780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9056400" y="-2403775"/>
            <a:ext cx="5173309" cy="517330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10197572" y="-1262604"/>
            <a:ext cx="2890967" cy="289096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-914400" y="4846320"/>
            <a:ext cx="2926080" cy="2926080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-446227" y="5314493"/>
            <a:ext cx="1989734" cy="1989734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-7315" y="5753405"/>
            <a:ext cx="1111910" cy="1111910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914400" cy="9144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57734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SENAI FUTURO — DESAFIO IA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Radar de Tendências Tecnológicas</a:t>
            </a:r>
            <a:endParaRPr lang="en-US" sz="4200" dirty="0"/>
          </a:p>
        </p:txBody>
      </p:sp>
      <p:sp>
        <p:nvSpPr>
          <p:cNvPr id="12" name="Text 9"/>
          <p:cNvSpPr/>
          <p:nvPr/>
        </p:nvSpPr>
        <p:spPr>
          <a:xfrm>
            <a:off x="64008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painel executivo que só afirma o que consegue provar.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5943600"/>
            <a:ext cx="2926080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640080" y="6080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Araújo Jr.  ·  Apresentação técnica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33711" y="4700016"/>
            <a:ext cx="3218688" cy="321868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548701" y="5215006"/>
            <a:ext cx="2188708" cy="2188708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11031504" y="5697809"/>
            <a:ext cx="1223101" cy="1223101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Tendências tecnológicas, decisões atrasadas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864" cy="2240280"/>
          </a:xfrm>
          <a:prstGeom prst="rect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960120" y="1874519"/>
            <a:ext cx="4846320" cy="3680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Contexto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indústria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busca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formas de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acompanhar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tendência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evolução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tecnologia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industrial e dessa forma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projetar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seu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plano de director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tendências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emergentes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alto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impacto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criar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uma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solução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inteligente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moderna, robusta e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baixo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auxiliar o </a:t>
            </a:r>
            <a:r>
              <a:rPr lang="en-US" sz="1900" dirty="0" err="1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negócio</a:t>
            </a: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92240" y="196596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2066544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114032" y="193852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manual e dispersa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221284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tendência exige garimpar dezenas de fontes na mão, sem padrão.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92240" y="306324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316382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14032" y="303580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rastreabilidade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114032" y="331012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resumo de IA genérico não dá pra citar com segurança em reunião de diretoria.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92240" y="41605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426110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114032" y="413308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para consolidar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114032" y="440740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hoje depende de tempo humano — decisão estratégica sempre chega atrasada.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16975" y="-2743200"/>
            <a:ext cx="5852160" cy="5852160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9653321" y="-1806854"/>
            <a:ext cx="3979469" cy="397946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10531145" y="-929030"/>
            <a:ext cx="2223821" cy="2223821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PROPOSTA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tema livre a painel executivo, em minutos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340968" y="2377440"/>
            <a:ext cx="2834640" cy="1645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248396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668" y="275417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7812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Tema livre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7812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"Edge AI"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30472" y="3063240"/>
            <a:ext cx="393192" cy="274320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678528" y="2377440"/>
            <a:ext cx="2834640" cy="1645920"/>
          </a:xfrm>
          <a:prstGeom prst="rect">
            <a:avLst/>
          </a:prstGeom>
          <a:solidFill>
            <a:srgbClr val="12332C"/>
          </a:solidFill>
          <a:ln w="19050">
            <a:solidFill>
              <a:srgbClr val="00D9A3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82152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2228" y="2754173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1568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Radar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81568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+ síntese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68032" y="3063240"/>
            <a:ext cx="393192" cy="274320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5"/>
          <p:cNvSpPr/>
          <p:nvPr/>
        </p:nvSpPr>
        <p:spPr>
          <a:xfrm>
            <a:off x="8016088" y="2377440"/>
            <a:ext cx="2834640" cy="1645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6"/>
          <p:cNvSpPr/>
          <p:nvPr/>
        </p:nvSpPr>
        <p:spPr>
          <a:xfrm>
            <a:off x="915908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9788" y="2754173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5324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Painel executivo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15324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seções + evidências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IRT (Industrial Radar Trends) - Cada afirmação é rastreável a uma </a:t>
            </a:r>
            <a:r>
              <a:rPr lang="en-US" sz="1700" dirty="0" err="1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r>
              <a:rPr lang="en-US" sz="17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real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FUNCIONA — CONFORME O DESAFIO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etapas, do enunciado à entrega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090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8950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32978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3146450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950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Definição do tema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8950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informa uma tendência ou tecnologia em texto livre.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43604" y="3858768"/>
            <a:ext cx="292608" cy="237744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47278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70138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694166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310" y="3146450"/>
            <a:ext cx="281635" cy="28163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70138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 de evidências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70138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públicas e confiáveis: científicas, mercado, notícia, corporativa, patente.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755484" y="3858768"/>
            <a:ext cx="292608" cy="237744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4"/>
          <p:cNvSpPr/>
          <p:nvPr/>
        </p:nvSpPr>
        <p:spPr>
          <a:xfrm>
            <a:off x="808466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Text 15"/>
          <p:cNvSpPr/>
          <p:nvPr/>
        </p:nvSpPr>
        <p:spPr>
          <a:xfrm>
            <a:off x="831326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1055354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4190" y="3146450"/>
            <a:ext cx="281635" cy="28163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1326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Consolidação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31326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10 seções com grau de suporte calculado em código.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Streamlit ao Cosmos DB — visão completa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+ Cosmos DB + Foundry na região Brazil South — colocalizados, zero latência cross-region.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32608" y="1810512"/>
            <a:ext cx="6126480" cy="50292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3169768" y="18105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— Azure App Service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5967832" y="2404872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3032608" y="2697480"/>
            <a:ext cx="6126480" cy="502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169768" y="26974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Orquestrador (Python)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5967832" y="3291840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324448" y="3264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concorrente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32608" y="3584448"/>
            <a:ext cx="6126480" cy="5943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6095848" y="3675888"/>
            <a:ext cx="0" cy="41148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169768" y="358444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+ OpenAlex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(coleta acadêmica)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3008" y="358444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Coletor — Foundry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4 perspectivas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5400000">
            <a:off x="5967832" y="4270248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324448" y="42428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numerado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032608" y="4562856"/>
            <a:ext cx="6126480" cy="59436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6095848" y="4654296"/>
            <a:ext cx="0" cy="411480"/>
          </a:xfrm>
          <a:prstGeom prst="line">
            <a:avLst/>
          </a:prstGeom>
          <a:noFill/>
          <a:ln w="12700">
            <a:solidFill>
              <a:srgbClr val="00D9A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3169768" y="4562856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Sintetizador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Foundry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33008" y="4562856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de suporte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(código determinístico)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 rot="5400000">
            <a:off x="5967832" y="5248656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3032608" y="5541264"/>
            <a:ext cx="6126480" cy="50292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3169768" y="554126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— documento único por relatório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59088" y="2061972"/>
            <a:ext cx="320040" cy="0"/>
          </a:xfrm>
          <a:prstGeom prst="line">
            <a:avLst/>
          </a:prstGeom>
          <a:noFill/>
          <a:ln w="12700">
            <a:solidFill>
              <a:srgbClr val="8CA0A8"/>
            </a:solidFill>
            <a:prstDash val="dash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9479128" y="1673352"/>
            <a:ext cx="2072488" cy="86868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9643720" y="1673352"/>
            <a:ext cx="1743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Histórico: reabre relatórios direto do Cosmos, sem nova coleta.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diagrama completo, de ponta a ponta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de escopo, coleta em paralelo, síntese e persistência — cada bloco mapeado para um serviço Azure real.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20370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61872" y="207568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Colocalizado em Brazil South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61872" y="235000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+ Cosmos DB + Foundry na mesma região — zero latência cross-region.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52958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61872" y="340156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antes do pipeline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261872" y="367588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Foundry classifica o tema antes de qualquer chamada cara (fail-open em caso de erro).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47548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85546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1872" y="472744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isoladas e testáveis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261872" y="500176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Coleta, síntese e persistência são módulos independentes, cada um com sua própria suíte de testes.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71200" y="1856232"/>
            <a:ext cx="6015456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8" name="Image 3" descr="C:\Users\carlo\OneDrive\Github\Assistente_pessoal\especialista_ia\research-hub\docs\apresentacao\criterios\01-arquitetura.drawi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0928" y="1965960"/>
            <a:ext cx="5796000" cy="42062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02191" y="-2157984"/>
            <a:ext cx="4681728" cy="468172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051268" y="-1408908"/>
            <a:ext cx="3183575" cy="3183575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10753527" y="-706648"/>
            <a:ext cx="1779057" cy="177905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DIFERENCIAL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Quem gradua a confiança é código, não o modelo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4040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00D9A3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774040" y="1965960"/>
            <a:ext cx="2468880" cy="109728"/>
          </a:xfrm>
          <a:prstGeom prst="rect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91120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1200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 evidências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≥2 tipos de fonte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98952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7BC063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3498952" y="1965960"/>
            <a:ext cx="2468880" cy="109728"/>
          </a:xfrm>
          <a:prstGeom prst="rect">
            <a:avLst/>
          </a:prstGeom>
          <a:solidFill>
            <a:srgbClr val="7BC0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636112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MÉDIO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6112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evidências,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≥4 com 1 tipo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23864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F5A623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6223864" y="1965960"/>
            <a:ext cx="2468880" cy="10972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361024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BAIXO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61024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evidência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48776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8CA0A8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8948776" y="1965960"/>
            <a:ext cx="2468880" cy="109728"/>
          </a:xfrm>
          <a:prstGeom prst="rect">
            <a:avLst/>
          </a:prstGeom>
          <a:solidFill>
            <a:srgbClr val="8CA0A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9085936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INFERÊNCIA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085936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evidências —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marcado explicitamente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05156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14400" y="4599432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1" y="4720133"/>
            <a:ext cx="307238" cy="30723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645920" y="4480560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Sintetizador só pode </a:t>
            </a: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citar</a:t>
            </a: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evidências. Um módulo separado, puro e testado </a:t>
            </a:r>
            <a:r>
              <a:rPr lang="en-US" sz="135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testes unitários)</a:t>
            </a: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calcula o grau — e rebaixa para inferência qualquer citação de id inexistente.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 DE EVIDÊNCIAS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perguntas concorrentes, 5 tipos de fonte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Perspectivas (estilo STORM) — rodam em paralelo: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Econômica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868680" y="32461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868680" y="374904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rot="5400000">
            <a:off x="2935224" y="4288536"/>
            <a:ext cx="256032" cy="219456"/>
          </a:xfrm>
          <a:prstGeom prst="rightArrow">
            <a:avLst/>
          </a:prstGeom>
          <a:solidFill>
            <a:srgbClr val="00D9A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640080" y="4599432"/>
            <a:ext cx="4846320" cy="50292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45994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evidências deduplicado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93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 spike: ~30s/pergunta — concorrência é obrigatória p/ caber em 5 min (SC-001).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 cobertos: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228600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2386584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31152" y="2258568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Científica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931152" y="2532888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OpenAlex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309360" y="2907792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008376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931152" y="2880360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931152" y="3154680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309360" y="3529584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944" y="3630168"/>
            <a:ext cx="256032" cy="256032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931152" y="3502152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931152" y="3776472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imprensa especializada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309360" y="4151376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944" y="4251960"/>
            <a:ext cx="256032" cy="25603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931152" y="4123944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Corporativa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6931152" y="4398264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309360" y="4773168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9944" y="4873752"/>
            <a:ext cx="256032" cy="25603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6931152" y="4745736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6931152" y="5020056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via busca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640080" y="5742432"/>
            <a:ext cx="10911535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2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Shao et al., STORM — NAACL 2024, </a:t>
            </a:r>
            <a:r>
              <a:rPr lang="en-US" sz="1050" b="1" i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OVAL</a:t>
            </a: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(Open Virtual Assistant Lab). Adaptada, não importada — sem o framework `knowledge-storm`.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sistema em funcionamento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3566160"/>
          </a:xfrm>
          <a:prstGeom prst="rect">
            <a:avLst/>
          </a:prstGeom>
          <a:solidFill>
            <a:srgbClr val="141C2E"/>
          </a:solidFill>
          <a:ln w="19050">
            <a:solidFill>
              <a:srgbClr val="00D9A3"/>
            </a:solidFill>
            <a:prstDash val="dash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730088" y="2880360"/>
            <a:ext cx="731520" cy="7315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968" y="30632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703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inserir GIF de navegação pelo sistema aqui ]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Gerar painel novo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368698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Reabrir do histórico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7317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Explorar evidências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RESULTADOS REAIS — SMOKE TEST EM PRODUÇÃO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2 temas do desafio, de ponta a ponta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27168" cy="374904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total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53664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53664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coletadas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53664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53664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geradas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4937760"/>
            <a:ext cx="4678528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914400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148072"/>
            <a:ext cx="219456" cy="21945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71600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SC-001 (≤5min)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482264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416" y="514807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939464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SC-005 (≥3 tipos)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324448" y="1874520"/>
            <a:ext cx="5227168" cy="374904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Text 18"/>
          <p:cNvSpPr/>
          <p:nvPr/>
        </p:nvSpPr>
        <p:spPr>
          <a:xfrm>
            <a:off x="6598768" y="21031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Robôs Humanoides p/ Indústria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6598768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36,8s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6598768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total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8938031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8938031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coletadas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598768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28" name="Text 24"/>
          <p:cNvSpPr/>
          <p:nvPr/>
        </p:nvSpPr>
        <p:spPr>
          <a:xfrm>
            <a:off x="6598768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8938031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10/10</a:t>
            </a:r>
            <a:endParaRPr lang="en-US" sz="3000" dirty="0"/>
          </a:p>
        </p:txBody>
      </p:sp>
      <p:sp>
        <p:nvSpPr>
          <p:cNvPr id="30" name="Text 26"/>
          <p:cNvSpPr/>
          <p:nvPr/>
        </p:nvSpPr>
        <p:spPr>
          <a:xfrm>
            <a:off x="8938031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geradas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598768" y="4937760"/>
            <a:ext cx="4678528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8"/>
          <p:cNvSpPr/>
          <p:nvPr/>
        </p:nvSpPr>
        <p:spPr>
          <a:xfrm>
            <a:off x="6598768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1920" y="5148072"/>
            <a:ext cx="219456" cy="21945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7055968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SC-001 (≤5min)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66631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783" y="5148072"/>
            <a:ext cx="219456" cy="21945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623831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SC-005 (≥3 tipos)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MATURIDADE DE ENGENHARIA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de 6 bugs reais — corrigidos antes da banca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9992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malformado derrubava a coleta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campo nulo do OpenAlex escapava sem tratamento e abortava a análise inteira.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99178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627778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8362" y="299923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7778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migrou para HTTPS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627778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não seguido pelo cliente HTTP — coleta acadêmica degradava 100% das vezes.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627778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158277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3"/>
          <p:cNvSpPr/>
          <p:nvPr/>
        </p:nvSpPr>
        <p:spPr>
          <a:xfrm>
            <a:off x="8386877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1" y="2999232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6877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API não tratado na síntese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86877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rate limit real do modelo escapava do orquestrador e travava o processo.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86877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40080" y="53949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Outros 3 vieram da revisão de código automatizada — lista completa em docs/critical-review.md. Nenhum apareceu em testes mockados, só contra APIs reais.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AVALIAÇÃO CRÍTICA — CUSTOS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custa operar isso de verdade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1" y="21323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974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~US$14-15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337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fixo por mês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(App Service + Cosmos)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2011680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5581" y="21323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26974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~US$0,20-0,50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4754880" y="3337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análise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(tokens + busca)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732520" y="1874520"/>
            <a:ext cx="2819095" cy="246888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9"/>
          <p:cNvSpPr/>
          <p:nvPr/>
        </p:nvSpPr>
        <p:spPr>
          <a:xfrm>
            <a:off x="8961120" y="2057400"/>
            <a:ext cx="23618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B1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serverless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/ Web Search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token e por chamada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exato pendente de confirmação via Azure Cost Management — estimativa declarada, não inventada.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AVALIAÇÃO CRÍTICA — VIESES E LIMITAÇÕES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sabemos que não resolvemos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1226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9842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fonte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61872" y="22585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Consultorias pagas só entram pelo material público que elas divulgam.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48386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61872" y="33558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idioma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61872" y="36301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predominantemente em inglês; painel sempre em português.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370168" y="20116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752" y="2112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1960" y="19842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modelo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991960" y="22585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Mitigado: só afirma com citação; grau nunca é autoavaliado pelo LLM.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370168" y="33832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752" y="348386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91960" y="33558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Patentes sem API dedicada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991960" y="36301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Cobertas só por sinais via busca — EPO OPS avaliada e adiada por prazo.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40080" y="5074920"/>
            <a:ext cx="10911535" cy="96012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5"/>
          <p:cNvSpPr/>
          <p:nvPr/>
        </p:nvSpPr>
        <p:spPr>
          <a:xfrm>
            <a:off x="914400" y="5285232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" y="5395874"/>
            <a:ext cx="281635" cy="28163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00200" y="5184648"/>
            <a:ext cx="9677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viés aqui é “resolvido” — são mitigados por desenho (citação obrigatória, graduação em código) e documentados honestamente para a arguição.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PRÓXIMOS PASSOS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Evoluções priorizadas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1592542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3184" y="3356762"/>
            <a:ext cx="281635" cy="2816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Patentes dedicadas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EPO OPS — cobertura mundial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59404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4411866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508" y="335676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6564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Multiusuário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596564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Auth / Entra ID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8728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Shape 11"/>
          <p:cNvSpPr/>
          <p:nvPr/>
        </p:nvSpPr>
        <p:spPr>
          <a:xfrm>
            <a:off x="7231190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1832" y="335676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15888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contínuo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415888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 com timer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98051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5"/>
          <p:cNvSpPr/>
          <p:nvPr/>
        </p:nvSpPr>
        <p:spPr>
          <a:xfrm>
            <a:off x="10050513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1156" y="335676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35211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 de custo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9235211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Insights por consulta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3621024"/>
            <a:ext cx="7607808" cy="760780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9056400" y="-2403775"/>
            <a:ext cx="5173309" cy="517330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10197572" y="-1262604"/>
            <a:ext cx="2890967" cy="289096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-2084832" y="3675888"/>
            <a:ext cx="5266944" cy="5266944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-1242121" y="4518599"/>
            <a:ext cx="3581522" cy="3581522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-452079" y="5308641"/>
            <a:ext cx="2001439" cy="2001439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5638648" y="1920240"/>
            <a:ext cx="914400" cy="914400"/>
          </a:xfrm>
          <a:prstGeom prst="ellipse">
            <a:avLst/>
          </a:prstGeom>
          <a:solidFill>
            <a:srgbClr val="12332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388" y="212598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0" y="30632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Obrigado.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Perguntas, críticas e sugestões são bem-vindas.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947008" y="4709160"/>
            <a:ext cx="365760" cy="365760"/>
          </a:xfrm>
          <a:prstGeom prst="ellipse">
            <a:avLst/>
          </a:prstGeom>
          <a:solidFill>
            <a:srgbClr val="1B243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160" y="478231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04208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github.com/Carlosaaajr/radar-tendencias-tecnologicas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1171</Words>
  <Application>Microsoft Office PowerPoint</Application>
  <PresentationFormat>Widescreen</PresentationFormat>
  <Paragraphs>216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Tendências Tecnológicas</dc:title>
  <dc:subject>PptxGenJS Presentation</dc:subject>
  <dc:creator>Carlos Araújo Jr.</dc:creator>
  <cp:lastModifiedBy>Carlos Araújo</cp:lastModifiedBy>
  <cp:revision>1</cp:revision>
  <dcterms:created xsi:type="dcterms:W3CDTF">2026-07-07T02:40:15Z</dcterms:created>
  <dcterms:modified xsi:type="dcterms:W3CDTF">2026-07-07T10:24:48Z</dcterms:modified>
</cp:coreProperties>
</file>