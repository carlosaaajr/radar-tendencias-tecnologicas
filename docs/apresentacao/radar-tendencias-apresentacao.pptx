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39151" y="-3621024"/>
            <a:ext cx="7607808" cy="760780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6400" y="-2403775"/>
            <a:ext cx="5173309" cy="517330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97572" y="-1262604"/>
            <a:ext cx="2890967" cy="289096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914400" y="4846320"/>
            <a:ext cx="2926080" cy="2926080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446227" y="5314493"/>
            <a:ext cx="1989734" cy="1989734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7315" y="5753405"/>
            <a:ext cx="1111910" cy="1111910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371600"/>
            <a:ext cx="914400" cy="9144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820" y="157734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0080" y="2514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SENAI DO FUTURO — DESAFIO IA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40080" y="288036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Radar de Tendências Tecnológicas</a:t>
            </a:r>
            <a:endParaRPr lang="en-US" sz="4200" dirty="0"/>
          </a:p>
        </p:txBody>
      </p:sp>
      <p:sp>
        <p:nvSpPr>
          <p:cNvPr id="12" name="Text 9"/>
          <p:cNvSpPr/>
          <p:nvPr/>
        </p:nvSpPr>
        <p:spPr>
          <a:xfrm>
            <a:off x="64008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painel executivo que só afirma o que consegue provar.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0080" y="5943600"/>
            <a:ext cx="2926080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60807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Carlos Araújo Jr.  ·  Apresentação técnica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33711" y="4700016"/>
            <a:ext cx="3218688" cy="321868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548701" y="5215006"/>
            <a:ext cx="2188708" cy="2188708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031504" y="5697809"/>
            <a:ext cx="1223101" cy="1223101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PROBLEMA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Tendências tecnológicas, decisões atrasadas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640080" y="1874520"/>
            <a:ext cx="54864" cy="2240280"/>
          </a:xfrm>
          <a:prstGeom prst="rect">
            <a:avLst/>
          </a:prstGeom>
          <a:solidFill>
            <a:srgbClr val="00D9A3"/>
          </a:solidFill>
          <a:ln/>
        </p:spPr>
      </p:sp>
      <p:sp>
        <p:nvSpPr>
          <p:cNvPr id="8" name="Text 6"/>
          <p:cNvSpPr/>
          <p:nvPr/>
        </p:nvSpPr>
        <p:spPr>
          <a:xfrm>
            <a:off x="960120" y="1874520"/>
            <a:ext cx="484632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900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“A diretoria de uma empresa industrial deseja acompanhar tendências emergentes que possam impactar seus negócios nos próximos anos.”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960120" y="379476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recorte literal do desafio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492240" y="196596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92824" y="2066544"/>
            <a:ext cx="256032" cy="256032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7114032" y="193852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Pesquisa manual e dispersa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114032" y="221284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tendência exige garimpar dezenas de fontes na mão, sem padrão.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92240" y="306324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824" y="3163824"/>
            <a:ext cx="256032" cy="256032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14032" y="303580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rastreabilidade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7114032" y="331012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resumo de IA genérico não dá pra citar com segurança em reunião de diretoria.</a:t>
            </a:r>
            <a:endParaRPr lang="en-US" sz="1200" dirty="0"/>
          </a:p>
        </p:txBody>
      </p:sp>
      <p:sp>
        <p:nvSpPr>
          <p:cNvPr id="18" name="Shape 14"/>
          <p:cNvSpPr/>
          <p:nvPr/>
        </p:nvSpPr>
        <p:spPr>
          <a:xfrm>
            <a:off x="6492240" y="416052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2824" y="4261104"/>
            <a:ext cx="256032" cy="2560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7114032" y="4133088"/>
            <a:ext cx="443758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para consolidar</a:t>
            </a:r>
            <a:endParaRPr lang="en-US" sz="1500" dirty="0"/>
          </a:p>
        </p:txBody>
      </p:sp>
      <p:sp>
        <p:nvSpPr>
          <p:cNvPr id="21" name="Text 16"/>
          <p:cNvSpPr/>
          <p:nvPr/>
        </p:nvSpPr>
        <p:spPr>
          <a:xfrm>
            <a:off x="7114032" y="4407408"/>
            <a:ext cx="443758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trabalho hoje depende de tempo humano — decisão estratégica sempre chega atrasada.</a:t>
            </a:r>
            <a:endParaRPr lang="en-US" sz="1200" dirty="0"/>
          </a:p>
        </p:txBody>
      </p:sp>
      <p:sp>
        <p:nvSpPr>
          <p:cNvPr id="22" name="Text 1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3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16975" y="-2743200"/>
            <a:ext cx="5852160" cy="5852160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53321" y="-1806854"/>
            <a:ext cx="3979469" cy="397946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31145" y="-929030"/>
            <a:ext cx="2223821" cy="2223821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 PROPOSTA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 tema livre a painel executivo, em minutos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1340968" y="2377440"/>
            <a:ext cx="2834640" cy="1645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248396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04668" y="2754173"/>
            <a:ext cx="307238" cy="307238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47812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Tema livre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147812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"Edge AI"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230472" y="3063240"/>
            <a:ext cx="393192" cy="274320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3" name="Shape 10"/>
          <p:cNvSpPr/>
          <p:nvPr/>
        </p:nvSpPr>
        <p:spPr>
          <a:xfrm>
            <a:off x="4678528" y="2377440"/>
            <a:ext cx="2834640" cy="1645920"/>
          </a:xfrm>
          <a:prstGeom prst="rect">
            <a:avLst/>
          </a:prstGeom>
          <a:solidFill>
            <a:srgbClr val="12332C"/>
          </a:solidFill>
          <a:ln w="1905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582152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2228" y="2754173"/>
            <a:ext cx="307238" cy="307238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481568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Radar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481568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+ síntese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7568032" y="3063240"/>
            <a:ext cx="393192" cy="274320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9" name="Shape 15"/>
          <p:cNvSpPr/>
          <p:nvPr/>
        </p:nvSpPr>
        <p:spPr>
          <a:xfrm>
            <a:off x="8016088" y="2377440"/>
            <a:ext cx="2834640" cy="1645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9159088" y="2633472"/>
            <a:ext cx="548640" cy="54864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79788" y="2754173"/>
            <a:ext cx="307238" cy="307238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153248" y="329184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Painel executivo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8153248" y="3639312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seções + evidências</a:t>
            </a:r>
            <a:endParaRPr lang="en-US" sz="1100" dirty="0"/>
          </a:p>
        </p:txBody>
      </p:sp>
      <p:sp>
        <p:nvSpPr>
          <p:cNvPr id="24" name="Text 19"/>
          <p:cNvSpPr/>
          <p:nvPr/>
        </p:nvSpPr>
        <p:spPr>
          <a:xfrm>
            <a:off x="640080" y="4663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afirmação é rastreável a uma evidência real </a:t>
            </a:r>
            <a:pPr algn="ctr" indent="0" marL="0">
              <a:buNone/>
            </a:pPr>
            <a:r>
              <a:rPr lang="en-US" sz="17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ou é marcada como inferência.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6" name="Text 21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COMO FUNCIONA — CONFORME O DESAFIO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etapas, do enunciado à entrega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6090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108950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332978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40430" y="3146450"/>
            <a:ext cx="281635" cy="28163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8950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Definição do tema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108950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Usuário informa uma tendência ou tecnologia em texto livre.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143604" y="3858768"/>
            <a:ext cx="292608" cy="237744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1" name="Shape 8"/>
          <p:cNvSpPr/>
          <p:nvPr/>
        </p:nvSpPr>
        <p:spPr>
          <a:xfrm>
            <a:off x="447278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470138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Shape 10"/>
          <p:cNvSpPr/>
          <p:nvPr/>
        </p:nvSpPr>
        <p:spPr>
          <a:xfrm>
            <a:off x="694166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2310" y="3146450"/>
            <a:ext cx="281635" cy="281635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470138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 de evidências</a:t>
            </a:r>
            <a:endParaRPr lang="en-US" sz="1700" dirty="0"/>
          </a:p>
        </p:txBody>
      </p:sp>
      <p:sp>
        <p:nvSpPr>
          <p:cNvPr id="16" name="Text 12"/>
          <p:cNvSpPr/>
          <p:nvPr/>
        </p:nvSpPr>
        <p:spPr>
          <a:xfrm>
            <a:off x="470138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 públicas e confiáveis: científicas, mercado, notícia, corporativa, patente.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755484" y="3858768"/>
            <a:ext cx="292608" cy="237744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8" name="Shape 14"/>
          <p:cNvSpPr/>
          <p:nvPr/>
        </p:nvSpPr>
        <p:spPr>
          <a:xfrm>
            <a:off x="8084668" y="2834640"/>
            <a:ext cx="3246120" cy="228600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5"/>
          <p:cNvSpPr/>
          <p:nvPr/>
        </p:nvSpPr>
        <p:spPr>
          <a:xfrm>
            <a:off x="8313268" y="2999232"/>
            <a:ext cx="7315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3BD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Shape 16"/>
          <p:cNvSpPr/>
          <p:nvPr/>
        </p:nvSpPr>
        <p:spPr>
          <a:xfrm>
            <a:off x="10553548" y="3035808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1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64190" y="3146450"/>
            <a:ext cx="281635" cy="281635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8313268" y="3675888"/>
            <a:ext cx="2788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Consolidação</a:t>
            </a:r>
            <a:endParaRPr lang="en-US" sz="1700" dirty="0"/>
          </a:p>
        </p:txBody>
      </p:sp>
      <p:sp>
        <p:nvSpPr>
          <p:cNvPr id="23" name="Text 18"/>
          <p:cNvSpPr/>
          <p:nvPr/>
        </p:nvSpPr>
        <p:spPr>
          <a:xfrm>
            <a:off x="8313268" y="4114800"/>
            <a:ext cx="2788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10 seções com grau de suporte calculado em código.</a:t>
            </a:r>
            <a:endParaRPr lang="en-US" sz="1250" dirty="0"/>
          </a:p>
        </p:txBody>
      </p:sp>
      <p:sp>
        <p:nvSpPr>
          <p:cNvPr id="24" name="Text 19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5" name="Text 20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ARQUITETURA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Streamlit ao Cosmos DB — visão completa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3716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+ Cosmos DB + Foundry na região Brazil South — colocalizados, zero latência cross-region.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032608" y="1810512"/>
            <a:ext cx="6126480" cy="50292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169768" y="1810512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 — Azure App Service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 rot="5400000">
            <a:off x="5967832" y="2404872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8" name="Shape 6"/>
          <p:cNvSpPr/>
          <p:nvPr/>
        </p:nvSpPr>
        <p:spPr>
          <a:xfrm>
            <a:off x="3032608" y="2697480"/>
            <a:ext cx="6126480" cy="5029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169768" y="2697480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Orquestrador (Python)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 rot="5400000">
            <a:off x="5967832" y="3291840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1" name="Text 9"/>
          <p:cNvSpPr/>
          <p:nvPr/>
        </p:nvSpPr>
        <p:spPr>
          <a:xfrm>
            <a:off x="6324448" y="3264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concorrente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032608" y="3584448"/>
            <a:ext cx="6126480" cy="5943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95848" y="3675888"/>
            <a:ext cx="0" cy="41148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169768" y="358444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+ OpenAlex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(coleta acadêmica)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233008" y="3584448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Coletor — Foundry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Search · 4 perspectivas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 rot="5400000">
            <a:off x="5967832" y="4270248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7" name="Text 15"/>
          <p:cNvSpPr/>
          <p:nvPr/>
        </p:nvSpPr>
        <p:spPr>
          <a:xfrm>
            <a:off x="6324448" y="4242816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+ numerado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032608" y="4562856"/>
            <a:ext cx="6126480" cy="59436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095848" y="4654296"/>
            <a:ext cx="0" cy="411480"/>
          </a:xfrm>
          <a:prstGeom prst="line">
            <a:avLst/>
          </a:prstGeom>
          <a:noFill/>
          <a:ln w="12700">
            <a:solidFill>
              <a:srgbClr val="00D9A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9768" y="4562856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Agente Sintetizador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Foundry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233008" y="4562856"/>
            <a:ext cx="2788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Grau de suporte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(código determinístico)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 rot="5400000">
            <a:off x="5967832" y="5248656"/>
            <a:ext cx="256032" cy="201168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23" name="Shape 21"/>
          <p:cNvSpPr/>
          <p:nvPr/>
        </p:nvSpPr>
        <p:spPr>
          <a:xfrm>
            <a:off x="3032608" y="5541264"/>
            <a:ext cx="6126480" cy="50292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169768" y="554126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— documento único por relatório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9159088" y="2061972"/>
            <a:ext cx="320040" cy="0"/>
          </a:xfrm>
          <a:prstGeom prst="line">
            <a:avLst/>
          </a:prstGeom>
          <a:noFill/>
          <a:ln w="12700">
            <a:solidFill>
              <a:srgbClr val="8CA0A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9479128" y="1673352"/>
            <a:ext cx="2072488" cy="86868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643720" y="1673352"/>
            <a:ext cx="17433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Histórico: reabre relatórios direto do Cosmos, sem nova coleta.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02191" y="-2157984"/>
            <a:ext cx="4681728" cy="468172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1268" y="-1408908"/>
            <a:ext cx="3183575" cy="3183575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753527" y="-706648"/>
            <a:ext cx="1779057" cy="177905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DIFERENCIAL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Quem gradua a confiança é código, não o modelo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774040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00D9A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4040" y="1965960"/>
            <a:ext cx="2468880" cy="109728"/>
          </a:xfrm>
          <a:prstGeom prst="rect">
            <a:avLst/>
          </a:prstGeom>
          <a:solidFill>
            <a:srgbClr val="00D9A3"/>
          </a:solidFill>
          <a:ln/>
        </p:spPr>
      </p:sp>
      <p:sp>
        <p:nvSpPr>
          <p:cNvPr id="9" name="Text 7"/>
          <p:cNvSpPr/>
          <p:nvPr/>
        </p:nvSpPr>
        <p:spPr>
          <a:xfrm>
            <a:off x="911200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ALTO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911200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≥4 evidências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≥2 tipos de fonte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3498952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7BC06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498952" y="1965960"/>
            <a:ext cx="2468880" cy="109728"/>
          </a:xfrm>
          <a:prstGeom prst="rect">
            <a:avLst/>
          </a:prstGeom>
          <a:solidFill>
            <a:srgbClr val="7BC063"/>
          </a:solidFill>
          <a:ln/>
        </p:spPr>
      </p:sp>
      <p:sp>
        <p:nvSpPr>
          <p:cNvPr id="13" name="Text 11"/>
          <p:cNvSpPr/>
          <p:nvPr/>
        </p:nvSpPr>
        <p:spPr>
          <a:xfrm>
            <a:off x="3636112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7BC06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MÉDIO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3636112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2–3 evidências,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≥4 com 1 tipo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23864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F5A623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223864" y="1965960"/>
            <a:ext cx="2468880" cy="109728"/>
          </a:xfrm>
          <a:prstGeom prst="rect">
            <a:avLst/>
          </a:prstGeom>
          <a:solidFill>
            <a:srgbClr val="F5A623"/>
          </a:solidFill>
          <a:ln/>
        </p:spPr>
      </p:sp>
      <p:sp>
        <p:nvSpPr>
          <p:cNvPr id="17" name="Text 15"/>
          <p:cNvSpPr/>
          <p:nvPr/>
        </p:nvSpPr>
        <p:spPr>
          <a:xfrm>
            <a:off x="6361024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BAIXO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361024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evidência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948776" y="1965960"/>
            <a:ext cx="2468880" cy="1828800"/>
          </a:xfrm>
          <a:prstGeom prst="rect">
            <a:avLst/>
          </a:prstGeom>
          <a:solidFill>
            <a:srgbClr val="141C2E"/>
          </a:solidFill>
          <a:ln w="19050">
            <a:solidFill>
              <a:srgbClr val="8CA0A8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48776" y="1965960"/>
            <a:ext cx="2468880" cy="109728"/>
          </a:xfrm>
          <a:prstGeom prst="rect">
            <a:avLst/>
          </a:prstGeom>
          <a:solidFill>
            <a:srgbClr val="8CA0A8"/>
          </a:solidFill>
          <a:ln/>
        </p:spPr>
      </p:sp>
      <p:sp>
        <p:nvSpPr>
          <p:cNvPr id="21" name="Text 19"/>
          <p:cNvSpPr/>
          <p:nvPr/>
        </p:nvSpPr>
        <p:spPr>
          <a:xfrm>
            <a:off x="9085936" y="2286000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INFERÊNCIA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085936" y="28346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evidências —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marcado explicitamente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40080" y="4343400"/>
            <a:ext cx="10911535" cy="105156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14400" y="4599432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4720133"/>
            <a:ext cx="307238" cy="307238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1645920" y="4480560"/>
            <a:ext cx="96313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Sintetizador só pode </a:t>
            </a:r>
            <a:pPr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citar</a:t>
            </a:r>
            <a:pPr indent="0" marL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evidências. Um módulo separado, puro e testado </a:t>
            </a:r>
            <a:pPr indent="0" marL="0">
              <a:buNone/>
            </a:pPr>
            <a:r>
              <a:rPr lang="en-US" sz="1350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(7 testes unitários)</a:t>
            </a:r>
            <a:pPr indent="0" marL="0">
              <a:buNone/>
            </a:pPr>
            <a:r>
              <a:rPr lang="en-US" sz="13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calcula o grau — e rebaixa para inferência qualquer citação de id inexistente.</a:t>
            </a:r>
            <a:endParaRPr lang="en-US" sz="1350" dirty="0"/>
          </a:p>
        </p:txBody>
      </p:sp>
      <p:sp>
        <p:nvSpPr>
          <p:cNvPr id="27" name="Text 2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COLETA DE EVIDÊNCIAS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perguntas concorrentes, 5 tipos de fonte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Perspectivas (estilo STORM) — rodam em paralelo: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224028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4028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74320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4320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Econômica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40080" y="324612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324612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Industrial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749040"/>
            <a:ext cx="4846320" cy="438912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8680" y="3749040"/>
            <a:ext cx="43891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Regulatória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 rot="5400000">
            <a:off x="2935224" y="4288536"/>
            <a:ext cx="256032" cy="219456"/>
          </a:xfrm>
          <a:prstGeom prst="rightArrow">
            <a:avLst/>
          </a:prstGeom>
          <a:solidFill>
            <a:srgbClr val="00D9A3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4599432"/>
            <a:ext cx="4846320" cy="502920"/>
          </a:xfrm>
          <a:prstGeom prst="rect">
            <a:avLst/>
          </a:prstGeom>
          <a:solidFill>
            <a:srgbClr val="12332C"/>
          </a:solidFill>
          <a:ln w="12700">
            <a:solidFill>
              <a:srgbClr val="00D9A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599432"/>
            <a:ext cx="4846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evidências deduplicado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40080" y="5193792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Medido no spike: ~30s/pergunta — concorrência é obrigatória p/ caber em 5 min (SC-001).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309360" y="1828800"/>
            <a:ext cx="52422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 cobertos: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09360" y="228600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9944" y="2386584"/>
            <a:ext cx="256032" cy="2560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931152" y="2258568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Científica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6931152" y="2532888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arXiv, OpenAlex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6309360" y="2907792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9944" y="3008376"/>
            <a:ext cx="256032" cy="256032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931152" y="2880360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</a:t>
            </a:r>
            <a:endParaRPr lang="en-US" sz="1500" dirty="0"/>
          </a:p>
        </p:txBody>
      </p:sp>
      <p:sp>
        <p:nvSpPr>
          <p:cNvPr id="25" name="Text 21"/>
          <p:cNvSpPr/>
          <p:nvPr/>
        </p:nvSpPr>
        <p:spPr>
          <a:xfrm>
            <a:off x="6931152" y="3154680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309360" y="3529584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944" y="3630168"/>
            <a:ext cx="256032" cy="256032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6931152" y="3502152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Notícia</a:t>
            </a:r>
            <a:endParaRPr lang="en-US" sz="1500" dirty="0"/>
          </a:p>
        </p:txBody>
      </p:sp>
      <p:sp>
        <p:nvSpPr>
          <p:cNvPr id="29" name="Text 24"/>
          <p:cNvSpPr/>
          <p:nvPr/>
        </p:nvSpPr>
        <p:spPr>
          <a:xfrm>
            <a:off x="6931152" y="3776472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imprensa especializada</a:t>
            </a:r>
            <a:endParaRPr lang="en-US" sz="1200" dirty="0"/>
          </a:p>
        </p:txBody>
      </p:sp>
      <p:sp>
        <p:nvSpPr>
          <p:cNvPr id="30" name="Shape 25"/>
          <p:cNvSpPr/>
          <p:nvPr/>
        </p:nvSpPr>
        <p:spPr>
          <a:xfrm>
            <a:off x="6309360" y="4151376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9944" y="4251960"/>
            <a:ext cx="256032" cy="25603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6931152" y="4123944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Corporativa</a:t>
            </a:r>
            <a:endParaRPr lang="en-US" sz="1500" dirty="0"/>
          </a:p>
        </p:txBody>
      </p:sp>
      <p:sp>
        <p:nvSpPr>
          <p:cNvPr id="33" name="Text 27"/>
          <p:cNvSpPr/>
          <p:nvPr/>
        </p:nvSpPr>
        <p:spPr>
          <a:xfrm>
            <a:off x="6931152" y="4398264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empresas</a:t>
            </a:r>
            <a:endParaRPr lang="en-US" sz="1200" dirty="0"/>
          </a:p>
        </p:txBody>
      </p:sp>
      <p:sp>
        <p:nvSpPr>
          <p:cNvPr id="34" name="Shape 28"/>
          <p:cNvSpPr/>
          <p:nvPr/>
        </p:nvSpPr>
        <p:spPr>
          <a:xfrm>
            <a:off x="6309360" y="4773168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9944" y="4873752"/>
            <a:ext cx="256032" cy="256032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6931152" y="4745736"/>
            <a:ext cx="462046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</a:t>
            </a:r>
            <a:endParaRPr lang="en-US" sz="1500" dirty="0"/>
          </a:p>
        </p:txBody>
      </p:sp>
      <p:sp>
        <p:nvSpPr>
          <p:cNvPr id="37" name="Text 30"/>
          <p:cNvSpPr/>
          <p:nvPr/>
        </p:nvSpPr>
        <p:spPr>
          <a:xfrm>
            <a:off x="6931152" y="5020056"/>
            <a:ext cx="4620463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sinais via busca</a:t>
            </a:r>
            <a:endParaRPr lang="en-US" sz="1200" dirty="0"/>
          </a:p>
        </p:txBody>
      </p:sp>
      <p:sp>
        <p:nvSpPr>
          <p:cNvPr id="38" name="Shape 31"/>
          <p:cNvSpPr/>
          <p:nvPr/>
        </p:nvSpPr>
        <p:spPr>
          <a:xfrm>
            <a:off x="640080" y="5742432"/>
            <a:ext cx="10911535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640080" y="58521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de Shao et al., STORM — NAACL 2024, </a:t>
            </a:r>
            <a:pPr algn="ctr" indent="0" marL="0">
              <a:buNone/>
            </a:pPr>
            <a:r>
              <a:rPr lang="en-US" sz="1050" b="1" i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Stanford OVAL</a:t>
            </a:r>
            <a:pPr algn="ctr" indent="0" marL="0">
              <a:buNone/>
            </a:pPr>
            <a:r>
              <a:rPr lang="en-US" sz="10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(Open Virtual Assistant Lab). Adaptada, não importada — sem o framework `knowledge-storm`.</a:t>
            </a:r>
            <a:endParaRPr lang="en-US" sz="1050" dirty="0"/>
          </a:p>
        </p:txBody>
      </p:sp>
      <p:sp>
        <p:nvSpPr>
          <p:cNvPr id="40" name="Text 3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41" name="Text 34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DEMONSTRAÇÃO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sistema em funcionamento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10911535" cy="3566160"/>
          </a:xfrm>
          <a:prstGeom prst="rect">
            <a:avLst/>
          </a:prstGeom>
          <a:solidFill>
            <a:srgbClr val="141C2E"/>
          </a:solidFill>
          <a:ln w="19050">
            <a:solidFill>
              <a:srgbClr val="00D9A3"/>
            </a:solidFill>
            <a:prstDash val="dash"/>
          </a:ln>
        </p:spPr>
      </p:sp>
      <p:sp>
        <p:nvSpPr>
          <p:cNvPr id="5" name="Shape 3"/>
          <p:cNvSpPr/>
          <p:nvPr/>
        </p:nvSpPr>
        <p:spPr>
          <a:xfrm>
            <a:off x="5730088" y="2880360"/>
            <a:ext cx="731520" cy="7315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12968" y="3063240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370332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inserir GIF de navegação pelo sistema aqui ]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Gerar painel novo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368698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Reabrir do histórico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097317" y="5577840"/>
            <a:ext cx="34542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Explorar evidências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RESULTADOS REAIS — SMOKE TEST EM PRODUÇÃO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Os 2 temas do desafio, de ponta a ponta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227168" cy="374904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1031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AI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14400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total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253664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53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3253664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coletadas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914400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914400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53664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10/10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3253664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geradas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914400" y="4937760"/>
            <a:ext cx="4678528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14400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" y="5148072"/>
            <a:ext cx="219456" cy="219456"/>
          </a:xfrm>
          <a:prstGeom prst="rect">
            <a:avLst/>
          </a:prstGeom>
        </p:spPr>
      </p:pic>
      <p:sp>
        <p:nvSpPr>
          <p:cNvPr id="17" name="Text 14"/>
          <p:cNvSpPr/>
          <p:nvPr/>
        </p:nvSpPr>
        <p:spPr>
          <a:xfrm>
            <a:off x="1371600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SC-001 (≤5min)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3482264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5416" y="5148072"/>
            <a:ext cx="219456" cy="219456"/>
          </a:xfrm>
          <a:prstGeom prst="rect">
            <a:avLst/>
          </a:prstGeom>
        </p:spPr>
      </p:pic>
      <p:sp>
        <p:nvSpPr>
          <p:cNvPr id="20" name="Text 16"/>
          <p:cNvSpPr/>
          <p:nvPr/>
        </p:nvSpPr>
        <p:spPr>
          <a:xfrm>
            <a:off x="3939464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SC-005 (≥3 tipos)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324448" y="1874520"/>
            <a:ext cx="5227168" cy="374904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18"/>
          <p:cNvSpPr/>
          <p:nvPr/>
        </p:nvSpPr>
        <p:spPr>
          <a:xfrm>
            <a:off x="6598768" y="2103120"/>
            <a:ext cx="467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Robôs Humanoides p/ Indústria</a:t>
            </a:r>
            <a:endParaRPr lang="en-US" sz="1800" dirty="0"/>
          </a:p>
        </p:txBody>
      </p:sp>
      <p:sp>
        <p:nvSpPr>
          <p:cNvPr id="23" name="Text 19"/>
          <p:cNvSpPr/>
          <p:nvPr/>
        </p:nvSpPr>
        <p:spPr>
          <a:xfrm>
            <a:off x="6598768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36,8s</a:t>
            </a:r>
            <a:endParaRPr lang="en-US" sz="3000" dirty="0"/>
          </a:p>
        </p:txBody>
      </p:sp>
      <p:sp>
        <p:nvSpPr>
          <p:cNvPr id="24" name="Text 20"/>
          <p:cNvSpPr/>
          <p:nvPr/>
        </p:nvSpPr>
        <p:spPr>
          <a:xfrm>
            <a:off x="6598768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duração total</a:t>
            </a:r>
            <a:endParaRPr lang="en-US" sz="1050" dirty="0"/>
          </a:p>
        </p:txBody>
      </p:sp>
      <p:sp>
        <p:nvSpPr>
          <p:cNvPr id="25" name="Text 21"/>
          <p:cNvSpPr/>
          <p:nvPr/>
        </p:nvSpPr>
        <p:spPr>
          <a:xfrm>
            <a:off x="8938031" y="274320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</a:t>
            </a:r>
            <a:endParaRPr lang="en-US" sz="3000" dirty="0"/>
          </a:p>
        </p:txBody>
      </p:sp>
      <p:sp>
        <p:nvSpPr>
          <p:cNvPr id="26" name="Text 22"/>
          <p:cNvSpPr/>
          <p:nvPr/>
        </p:nvSpPr>
        <p:spPr>
          <a:xfrm>
            <a:off x="8938031" y="327355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evidências coletadas</a:t>
            </a:r>
            <a:endParaRPr lang="en-US" sz="1050" dirty="0"/>
          </a:p>
        </p:txBody>
      </p:sp>
      <p:sp>
        <p:nvSpPr>
          <p:cNvPr id="27" name="Text 23"/>
          <p:cNvSpPr/>
          <p:nvPr/>
        </p:nvSpPr>
        <p:spPr>
          <a:xfrm>
            <a:off x="6598768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3000" dirty="0"/>
          </a:p>
        </p:txBody>
      </p:sp>
      <p:sp>
        <p:nvSpPr>
          <p:cNvPr id="28" name="Text 24"/>
          <p:cNvSpPr/>
          <p:nvPr/>
        </p:nvSpPr>
        <p:spPr>
          <a:xfrm>
            <a:off x="6598768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tipos de fonte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8938031" y="3794760"/>
            <a:ext cx="21563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10/10</a:t>
            </a:r>
            <a:endParaRPr lang="en-US" sz="3000" dirty="0"/>
          </a:p>
        </p:txBody>
      </p:sp>
      <p:sp>
        <p:nvSpPr>
          <p:cNvPr id="30" name="Text 26"/>
          <p:cNvSpPr/>
          <p:nvPr/>
        </p:nvSpPr>
        <p:spPr>
          <a:xfrm>
            <a:off x="8938031" y="4325112"/>
            <a:ext cx="215638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seções geradas</a:t>
            </a:r>
            <a:endParaRPr lang="en-US" sz="1050" dirty="0"/>
          </a:p>
        </p:txBody>
      </p:sp>
      <p:sp>
        <p:nvSpPr>
          <p:cNvPr id="31" name="Shape 27"/>
          <p:cNvSpPr/>
          <p:nvPr/>
        </p:nvSpPr>
        <p:spPr>
          <a:xfrm>
            <a:off x="6598768" y="4937760"/>
            <a:ext cx="4678528" cy="0"/>
          </a:xfrm>
          <a:prstGeom prst="line">
            <a:avLst/>
          </a:prstGeom>
          <a:noFill/>
          <a:ln w="12700">
            <a:solidFill>
              <a:srgbClr val="26314A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6598768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71920" y="5148072"/>
            <a:ext cx="219456" cy="219456"/>
          </a:xfrm>
          <a:prstGeom prst="rect">
            <a:avLst/>
          </a:prstGeom>
        </p:spPr>
      </p:pic>
      <p:sp>
        <p:nvSpPr>
          <p:cNvPr id="34" name="Text 29"/>
          <p:cNvSpPr/>
          <p:nvPr/>
        </p:nvSpPr>
        <p:spPr>
          <a:xfrm>
            <a:off x="7055968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SC-001 (≤5min)</a:t>
            </a:r>
            <a:endParaRPr lang="en-US" sz="1150" dirty="0"/>
          </a:p>
        </p:txBody>
      </p:sp>
      <p:sp>
        <p:nvSpPr>
          <p:cNvPr id="35" name="Shape 30"/>
          <p:cNvSpPr/>
          <p:nvPr/>
        </p:nvSpPr>
        <p:spPr>
          <a:xfrm>
            <a:off x="9166631" y="5074920"/>
            <a:ext cx="365760" cy="36576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3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39783" y="5148072"/>
            <a:ext cx="219456" cy="219456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9623831" y="5074920"/>
            <a:ext cx="21106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SC-005 (≥3 tipos)</a:t>
            </a:r>
            <a:endParaRPr lang="en-US" sz="1150" dirty="0"/>
          </a:p>
        </p:txBody>
      </p:sp>
      <p:sp>
        <p:nvSpPr>
          <p:cNvPr id="38" name="Text 32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39" name="Text 33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MATURIDADE DE ENGENHARIA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de 6 bugs reais — corrigidos antes da banca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9264" y="2999232"/>
            <a:ext cx="256032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68680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malformado derrubava a coleta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68680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campo nulo do OpenAlex escapava sem tratamento e abortava a análise inteira.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68680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4399178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27778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8362" y="2999232"/>
            <a:ext cx="256032" cy="25603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627778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arXiv migrou para HTTPS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4627778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Redirect não seguido pelo cliente HTTP — coleta acadêmica degradava 100% das vezes.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4627778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8158277" y="2697480"/>
            <a:ext cx="3393338" cy="242316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386877" y="2898648"/>
            <a:ext cx="457200" cy="45720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87461" y="2999232"/>
            <a:ext cx="256032" cy="25603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386877" y="3502152"/>
            <a:ext cx="29361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API não tratado na síntese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8386877" y="4050792"/>
            <a:ext cx="293613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rate limit real do modelo escapava do orquestrador e travava o processo.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8386877" y="4773168"/>
            <a:ext cx="29361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0D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corrigido + teste de regressão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640080" y="53949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Outros 3 vieram da revisão de código automatizada — lista completa em docs/critical-review.md. Nenhum apareceu em testes mockados, só contra APIs reais.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4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AVALIAÇÃO CRÍTICA — CUSTOS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custa operar isso de verdade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14400" y="2011680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5101" y="2132381"/>
            <a:ext cx="307238" cy="30723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269748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~US$14-15</a:t>
            </a:r>
            <a:endParaRPr lang="en-US" sz="2700" dirty="0"/>
          </a:p>
        </p:txBody>
      </p:sp>
      <p:sp>
        <p:nvSpPr>
          <p:cNvPr id="7" name="Text 4"/>
          <p:cNvSpPr/>
          <p:nvPr/>
        </p:nvSpPr>
        <p:spPr>
          <a:xfrm>
            <a:off x="914400" y="3337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fixo por mês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(App Service + Cosmos)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754880" y="2011680"/>
            <a:ext cx="548640" cy="54864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5581" y="2132381"/>
            <a:ext cx="307238" cy="30723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754880" y="2697480"/>
            <a:ext cx="3429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~US$0,20-0,50</a:t>
            </a:r>
            <a:endParaRPr lang="en-US" sz="2700" dirty="0"/>
          </a:p>
        </p:txBody>
      </p:sp>
      <p:sp>
        <p:nvSpPr>
          <p:cNvPr id="11" name="Text 7"/>
          <p:cNvSpPr/>
          <p:nvPr/>
        </p:nvSpPr>
        <p:spPr>
          <a:xfrm>
            <a:off x="4754880" y="3337560"/>
            <a:ext cx="3429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análise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(tokens + busca)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8732520" y="1874520"/>
            <a:ext cx="2819095" cy="246888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961120" y="2057400"/>
            <a:ext cx="236189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B1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Cosmos DB serverless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/ Web Search</a:t>
            </a:r>
            <a:endParaRPr lang="en-US" sz="120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token e por chamada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640080" y="466344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 exato pendente de confirmação via Azure Cost Management — estimativa declarada, não inventada.</a:t>
            </a:r>
            <a:endParaRPr lang="en-US" sz="1250" dirty="0"/>
          </a:p>
        </p:txBody>
      </p:sp>
      <p:sp>
        <p:nvSpPr>
          <p:cNvPr id="15" name="Text 11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16" name="Text 12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AVALIAÇÃO CRÍTICA — VIESES E LIMITAÇÕES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 que sabemos que não resolvemos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" y="2112264"/>
            <a:ext cx="256032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261872" y="19842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fonte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1261872" y="22585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Consultorias pagas só entram pelo material público que elas divulgam.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64" y="3483864"/>
            <a:ext cx="256032" cy="25603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261872" y="33558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idioma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1261872" y="36301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predominantemente em inglês; painel sempre em português.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6370168" y="20116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0752" y="2112264"/>
            <a:ext cx="256032" cy="256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991960" y="19842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Viés de modelo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991960" y="22585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Mitigado: só afirma com citação; grau nunca é autoavaliado pelo LLM.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370168" y="3383280"/>
            <a:ext cx="457200" cy="4572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70752" y="3483864"/>
            <a:ext cx="256032" cy="25603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91960" y="3355848"/>
            <a:ext cx="455965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Patentes sem API dedicada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6991960" y="3630168"/>
            <a:ext cx="45596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Cobertas só por sinais via busca — EPO OPS avaliada e adiada por prazo.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640080" y="5074920"/>
            <a:ext cx="10911535" cy="960120"/>
          </a:xfrm>
          <a:prstGeom prst="rect">
            <a:avLst/>
          </a:prstGeom>
          <a:solidFill>
            <a:srgbClr val="1B2438"/>
          </a:solidFill>
          <a:ln w="12700">
            <a:solidFill>
              <a:srgbClr val="26314A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914400" y="5285232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042" y="5395874"/>
            <a:ext cx="281635" cy="281635"/>
          </a:xfrm>
          <a:prstGeom prst="rect">
            <a:avLst/>
          </a:prstGeom>
        </p:spPr>
      </p:pic>
      <p:sp>
        <p:nvSpPr>
          <p:cNvPr id="23" name="Text 16"/>
          <p:cNvSpPr/>
          <p:nvPr/>
        </p:nvSpPr>
        <p:spPr>
          <a:xfrm>
            <a:off x="1600200" y="5184648"/>
            <a:ext cx="967709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viés aqui é “resolvido” — são mitigados por desenho (citação obrigatória, graduação em código) e documentados honestamente para a arguição.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5" name="Text 18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0D9A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PRÓXIMOS PASSOS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Evoluções priorizadas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592542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3184" y="3356762"/>
            <a:ext cx="281635" cy="28163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Patentes dedicadas</a:t>
            </a:r>
            <a:endParaRPr lang="en-US" sz="1350" dirty="0"/>
          </a:p>
        </p:txBody>
      </p:sp>
      <p:sp>
        <p:nvSpPr>
          <p:cNvPr id="8" name="Text 5"/>
          <p:cNvSpPr/>
          <p:nvPr/>
        </p:nvSpPr>
        <p:spPr>
          <a:xfrm>
            <a:off x="777240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EPO OPS — cobertura mundial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3459404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411866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2508" y="3356762"/>
            <a:ext cx="281635" cy="28163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596564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Multiusuário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3596564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Easy Auth / Entra ID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6278728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7231190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41832" y="3356762"/>
            <a:ext cx="281635" cy="28163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415888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 contínuo</a:t>
            </a:r>
            <a:endParaRPr lang="en-US" sz="1350" dirty="0"/>
          </a:p>
        </p:txBody>
      </p:sp>
      <p:sp>
        <p:nvSpPr>
          <p:cNvPr id="18" name="Text 13"/>
          <p:cNvSpPr/>
          <p:nvPr/>
        </p:nvSpPr>
        <p:spPr>
          <a:xfrm>
            <a:off x="6415888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Functions com timer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9098051" y="3017520"/>
            <a:ext cx="2453564" cy="2103120"/>
          </a:xfrm>
          <a:prstGeom prst="rect">
            <a:avLst/>
          </a:prstGeom>
          <a:solidFill>
            <a:srgbClr val="141C2E"/>
          </a:solidFill>
          <a:ln w="12700">
            <a:solidFill>
              <a:srgbClr val="26314A"/>
            </a:solidFill>
            <a:prstDash val="solid"/>
          </a:ln>
          <a:effectLst>
            <a:outerShdw sx="100000" sy="100000" kx="0" ky="0" algn="bl" rotWithShape="0" blurRad="1270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0050513" y="3246120"/>
            <a:ext cx="502920" cy="50292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61156" y="3356762"/>
            <a:ext cx="281635" cy="28163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9235211" y="3913632"/>
            <a:ext cx="217924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E8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Observabilidade de custo</a:t>
            </a:r>
            <a:endParaRPr lang="en-US" sz="1350" dirty="0"/>
          </a:p>
        </p:txBody>
      </p:sp>
      <p:sp>
        <p:nvSpPr>
          <p:cNvPr id="23" name="Text 17"/>
          <p:cNvSpPr/>
          <p:nvPr/>
        </p:nvSpPr>
        <p:spPr>
          <a:xfrm>
            <a:off x="9235211" y="4315968"/>
            <a:ext cx="217924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Insights por consulta</a:t>
            </a:r>
            <a:endParaRPr lang="en-US" sz="1100" dirty="0"/>
          </a:p>
        </p:txBody>
      </p:sp>
      <p:sp>
        <p:nvSpPr>
          <p:cNvPr id="24" name="Text 1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00" kern="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RADAR DE TENDÊNCIAS TECNOLÓGICAS  ·  SENAI DO FUTURO — IA</a:t>
            </a:r>
            <a:endParaRPr lang="en-US" sz="900" dirty="0"/>
          </a:p>
        </p:txBody>
      </p:sp>
      <p:sp>
        <p:nvSpPr>
          <p:cNvPr id="25" name="Text 19"/>
          <p:cNvSpPr/>
          <p:nvPr/>
        </p:nvSpPr>
        <p:spPr>
          <a:xfrm>
            <a:off x="1100297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CA0A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39151" y="-3621024"/>
            <a:ext cx="7607808" cy="7607808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056400" y="-2403775"/>
            <a:ext cx="5173309" cy="5173309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197572" y="-1262604"/>
            <a:ext cx="2890967" cy="2890967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-2084832" y="3675888"/>
            <a:ext cx="5266944" cy="5266944"/>
          </a:xfrm>
          <a:prstGeom prst="ellipse">
            <a:avLst/>
          </a:prstGeom>
          <a:ln w="15875">
            <a:solidFill>
              <a:srgbClr val="0A2A3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-1242121" y="4518599"/>
            <a:ext cx="3581522" cy="3581522"/>
          </a:xfrm>
          <a:prstGeom prst="ellipse">
            <a:avLst/>
          </a:prstGeom>
          <a:ln w="15875">
            <a:solidFill>
              <a:srgbClr val="093E3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-452079" y="5308641"/>
            <a:ext cx="2001439" cy="2001439"/>
          </a:xfrm>
          <a:prstGeom prst="ellipse">
            <a:avLst/>
          </a:prstGeom>
          <a:ln w="15875">
            <a:solidFill>
              <a:srgbClr val="0762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38648" y="1920240"/>
            <a:ext cx="914400" cy="914400"/>
          </a:xfrm>
          <a:prstGeom prst="ellipse">
            <a:avLst/>
          </a:prstGeom>
          <a:solidFill>
            <a:srgbClr val="12332C"/>
          </a:solidFill>
          <a:ln/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44388" y="2125980"/>
            <a:ext cx="502920" cy="50292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0" y="3063240"/>
            <a:ext cx="121916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8EE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Obrigado.</a:t>
            </a:r>
            <a:endParaRPr lang="en-US" sz="3800" dirty="0"/>
          </a:p>
        </p:txBody>
      </p:sp>
      <p:sp>
        <p:nvSpPr>
          <p:cNvPr id="11" name="Text 8"/>
          <p:cNvSpPr/>
          <p:nvPr/>
        </p:nvSpPr>
        <p:spPr>
          <a:xfrm>
            <a:off x="0" y="38404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Perguntas, críticas e sugestões são bem-vindas.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3947008" y="4709160"/>
            <a:ext cx="365760" cy="365760"/>
          </a:xfrm>
          <a:prstGeom prst="ellipse">
            <a:avLst/>
          </a:prstGeom>
          <a:solidFill>
            <a:srgbClr val="1B2438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0160" y="4782312"/>
            <a:ext cx="219456" cy="21945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404208" y="47091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CA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github.com/Carlosaaajr/radar-tendencias-tecnologicas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Radar de Tendências Tecnológicas</dc:title>
  <dc:subject>PptxGenJS Presentation</dc:subject>
  <dc:creator>Carlos Araújo Jr.</dc:creator>
  <cp:lastModifiedBy>Carlos Araújo Jr.</cp:lastModifiedBy>
  <cp:revision>1</cp:revision>
  <dcterms:created xsi:type="dcterms:W3CDTF">2026-07-06T18:24:39Z</dcterms:created>
  <dcterms:modified xsi:type="dcterms:W3CDTF">2026-07-06T18:24:39Z</dcterms:modified>
</cp:coreProperties>
</file>