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39151" y="-3621024"/>
            <a:ext cx="7607808" cy="7607808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56400" y="-2403775"/>
            <a:ext cx="5173309" cy="5173309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97572" y="-1262604"/>
            <a:ext cx="2890967" cy="2890967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14400" y="4846320"/>
            <a:ext cx="2926080" cy="2926080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446227" y="5314493"/>
            <a:ext cx="1989734" cy="1989734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7315" y="5753405"/>
            <a:ext cx="1111910" cy="1111910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371600"/>
            <a:ext cx="914400" cy="9144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57734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SENAI FUTURO — DESAFIO IA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28803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Radar de Tendências Tecnológicas</a:t>
            </a:r>
            <a:endParaRPr lang="en-US" sz="4200" dirty="0"/>
          </a:p>
        </p:txBody>
      </p:sp>
      <p:sp>
        <p:nvSpPr>
          <p:cNvPr id="12" name="Text 9"/>
          <p:cNvSpPr/>
          <p:nvPr/>
        </p:nvSpPr>
        <p:spPr>
          <a:xfrm>
            <a:off x="640080" y="3977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painel executivo que só afirma o que consegue provar.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0080" y="5943600"/>
            <a:ext cx="2926080" cy="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6080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Carlos Araújo Jr.  ·  Apresentação técnica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33711" y="4700016"/>
            <a:ext cx="3218688" cy="3218688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48701" y="5215006"/>
            <a:ext cx="2188708" cy="2188708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31504" y="5697809"/>
            <a:ext cx="1223101" cy="1223101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Tendências tecnológicas, decisões atrasadas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4864" cy="2240280"/>
          </a:xfrm>
          <a:prstGeom prst="rect">
            <a:avLst/>
          </a:prstGeom>
          <a:solidFill>
            <a:srgbClr val="00D9A3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87452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“A diretoria de uma empresa industrial deseja acompanhar tendências emergentes que possam impactar seus negócios nos próximos anos.”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60120" y="3794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recorte literal do desafio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92240" y="196596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4" y="2066544"/>
            <a:ext cx="256032" cy="25603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114032" y="1938528"/>
            <a:ext cx="44375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manual e dispersa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14032" y="2212848"/>
            <a:ext cx="44375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tendência exige garimpar dezenas de fontes na mão, sem padrão.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92240" y="306324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3163824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14032" y="3035808"/>
            <a:ext cx="44375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rastreabilidade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7114032" y="3310128"/>
            <a:ext cx="44375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resumo de IA genérico não dá pra citar com segurança em reunião de diretoria.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492240" y="416052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426110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114032" y="4133088"/>
            <a:ext cx="44375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para consolidar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7114032" y="4407408"/>
            <a:ext cx="44375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hoje depende de tempo humano — decisão estratégica sempre chega atrasada.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16975" y="-2743200"/>
            <a:ext cx="5852160" cy="5852160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53321" y="-1806854"/>
            <a:ext cx="3979469" cy="3979469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31145" y="-929030"/>
            <a:ext cx="2223821" cy="2223821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PROPOSTA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 tema livre a painel executivo, em minutos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340968" y="2377440"/>
            <a:ext cx="2834640" cy="16459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483968" y="2633472"/>
            <a:ext cx="548640" cy="54864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4668" y="2754173"/>
            <a:ext cx="307238" cy="30723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78128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Tema livre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78128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"Edge AI"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30472" y="3063240"/>
            <a:ext cx="393192" cy="274320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3" name="Shape 10"/>
          <p:cNvSpPr/>
          <p:nvPr/>
        </p:nvSpPr>
        <p:spPr>
          <a:xfrm>
            <a:off x="4678528" y="2377440"/>
            <a:ext cx="2834640" cy="1645920"/>
          </a:xfrm>
          <a:prstGeom prst="rect">
            <a:avLst/>
          </a:prstGeom>
          <a:solidFill>
            <a:srgbClr val="12332C"/>
          </a:solidFill>
          <a:ln w="19050">
            <a:solidFill>
              <a:srgbClr val="00D9A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821528" y="2633472"/>
            <a:ext cx="548640" cy="54864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2228" y="2754173"/>
            <a:ext cx="307238" cy="30723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815688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Radar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815688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+ síntese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568032" y="3063240"/>
            <a:ext cx="393192" cy="274320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9" name="Shape 15"/>
          <p:cNvSpPr/>
          <p:nvPr/>
        </p:nvSpPr>
        <p:spPr>
          <a:xfrm>
            <a:off x="8016088" y="2377440"/>
            <a:ext cx="2834640" cy="16459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159088" y="2633472"/>
            <a:ext cx="548640" cy="54864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9788" y="2754173"/>
            <a:ext cx="307238" cy="30723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153248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Painel executivo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153248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seções + evidências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40080" y="4663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afirmação é rastreável a uma evidência real </a:t>
            </a:r>
            <a:pPr algn="ctr" indent="0" marL="0">
              <a:buNone/>
            </a:pPr>
            <a:r>
              <a:rPr lang="en-US" sz="17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ou é marcada como inferência.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COMO FUNCIONA — CONFORME O DESAFIO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etapas, do enunciado à entrega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0908" y="2834640"/>
            <a:ext cx="3246120" cy="228600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89508" y="2999232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3BD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329788" y="3035808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0430" y="3146450"/>
            <a:ext cx="281635" cy="2816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89508" y="367588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Definição do tema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89508" y="41148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 informa uma tendência ou tecnologia em texto livre.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143604" y="3858768"/>
            <a:ext cx="292608" cy="237744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1" name="Shape 8"/>
          <p:cNvSpPr/>
          <p:nvPr/>
        </p:nvSpPr>
        <p:spPr>
          <a:xfrm>
            <a:off x="4472788" y="2834640"/>
            <a:ext cx="3246120" cy="228600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701388" y="2999232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3BD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6941668" y="3035808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2310" y="3146450"/>
            <a:ext cx="281635" cy="28163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701388" y="367588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Coleta de evidências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701388" y="41148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públicas e confiáveis: científicas, mercado, notícia, corporativa, patente.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7755484" y="3858768"/>
            <a:ext cx="292608" cy="237744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8" name="Shape 14"/>
          <p:cNvSpPr/>
          <p:nvPr/>
        </p:nvSpPr>
        <p:spPr>
          <a:xfrm>
            <a:off x="8084668" y="2834640"/>
            <a:ext cx="3246120" cy="228600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313268" y="2999232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3BD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Shape 16"/>
          <p:cNvSpPr/>
          <p:nvPr/>
        </p:nvSpPr>
        <p:spPr>
          <a:xfrm>
            <a:off x="10553548" y="3035808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4190" y="3146450"/>
            <a:ext cx="281635" cy="281635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313268" y="367588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Consolidação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8313268" y="41148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10 seções com grau de suporte calculado em código.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Streamlit ao Cosmos DB — visão completa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+ Cosmos DB + Foundry na região Brazil South — colocalizados, zero latência cross-region.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032608" y="1810512"/>
            <a:ext cx="6126480" cy="502920"/>
          </a:xfrm>
          <a:prstGeom prst="rect">
            <a:avLst/>
          </a:prstGeom>
          <a:solidFill>
            <a:srgbClr val="12332C"/>
          </a:solidFill>
          <a:ln w="12700">
            <a:solidFill>
              <a:srgbClr val="00D9A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169768" y="181051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— Azure App Service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 rot="5400000">
            <a:off x="5967832" y="2404872"/>
            <a:ext cx="256032" cy="201168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8" name="Shape 6"/>
          <p:cNvSpPr/>
          <p:nvPr/>
        </p:nvSpPr>
        <p:spPr>
          <a:xfrm>
            <a:off x="3032608" y="2697480"/>
            <a:ext cx="6126480" cy="5029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69768" y="26974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Orquestrador (Python)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rot="5400000">
            <a:off x="5967832" y="3291840"/>
            <a:ext cx="256032" cy="201168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1" name="Text 9"/>
          <p:cNvSpPr/>
          <p:nvPr/>
        </p:nvSpPr>
        <p:spPr>
          <a:xfrm>
            <a:off x="6324448" y="32644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concorrente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032608" y="3584448"/>
            <a:ext cx="6126480" cy="59436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95848" y="3675888"/>
            <a:ext cx="0" cy="41148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69768" y="358444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+ OpenAlex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(coleta acadêmica)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33008" y="358444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Coletor — Foundry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 · 4 perspectivas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rot="5400000">
            <a:off x="5967832" y="4270248"/>
            <a:ext cx="256032" cy="201168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7" name="Text 15"/>
          <p:cNvSpPr/>
          <p:nvPr/>
        </p:nvSpPr>
        <p:spPr>
          <a:xfrm>
            <a:off x="6324448" y="42428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+ numerado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032608" y="4562856"/>
            <a:ext cx="6126480" cy="594360"/>
          </a:xfrm>
          <a:prstGeom prst="rect">
            <a:avLst/>
          </a:prstGeom>
          <a:solidFill>
            <a:srgbClr val="12332C"/>
          </a:solidFill>
          <a:ln w="12700">
            <a:solidFill>
              <a:srgbClr val="00D9A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95848" y="4654296"/>
            <a:ext cx="0" cy="411480"/>
          </a:xfrm>
          <a:prstGeom prst="line">
            <a:avLst/>
          </a:prstGeom>
          <a:noFill/>
          <a:ln w="12700">
            <a:solidFill>
              <a:srgbClr val="00D9A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9768" y="4562856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Sintetizador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Foundry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233008" y="4562856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 de suporte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(código determinístico)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 rot="5400000">
            <a:off x="5967832" y="5248656"/>
            <a:ext cx="256032" cy="201168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23" name="Shape 21"/>
          <p:cNvSpPr/>
          <p:nvPr/>
        </p:nvSpPr>
        <p:spPr>
          <a:xfrm>
            <a:off x="3032608" y="5541264"/>
            <a:ext cx="6126480" cy="50292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169768" y="554126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 — documento único por relatório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159088" y="2061972"/>
            <a:ext cx="320040" cy="0"/>
          </a:xfrm>
          <a:prstGeom prst="line">
            <a:avLst/>
          </a:prstGeom>
          <a:noFill/>
          <a:ln w="12700">
            <a:solidFill>
              <a:srgbClr val="8CA0A8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479128" y="1673352"/>
            <a:ext cx="2072488" cy="86868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43720" y="1673352"/>
            <a:ext cx="1743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Histórico: reabre relatórios direto do Cosmos, sem nova coleta.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diagrama completo, de ponta a ponta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de escopo, coleta em paralelo, síntese e persistência — cada bloco mapeado para um serviço Azure real.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2203704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61872" y="207568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Colocalizado em Brazil South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261872" y="2350008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+ Cosmos DB + Foundry na mesma região — zero latência cross-region.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352958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61872" y="340156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antes do pipeline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261872" y="3675888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Foundry classifica o tema antes de qualquer chamada cara (fail-open em caso de erro).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47548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4855464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61872" y="472744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Camadas isoladas e testáveis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261872" y="5001768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Coleta, síntese e persistência são módulos independentes, cada um com sua própria suíte de testes.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871200" y="1856232"/>
            <a:ext cx="6015456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pic>
        <p:nvPicPr>
          <p:cNvPr id="18" name="Image 3" descr="C:\Users\carlo\OneDrive\Github\Assistente_pessoal\especialista_ia\research-hub\docs\apresentacao\criterios\01-arquitetura.draw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0928" y="1965960"/>
            <a:ext cx="5796000" cy="42062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02191" y="-2157984"/>
            <a:ext cx="4681728" cy="4681728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1268" y="-1408908"/>
            <a:ext cx="3183575" cy="3183575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53527" y="-706648"/>
            <a:ext cx="1779057" cy="1779057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DIFERENCIAL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Quem gradua a confiança é código, não o modelo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74040" y="1965960"/>
            <a:ext cx="2468880" cy="1828800"/>
          </a:xfrm>
          <a:prstGeom prst="rect">
            <a:avLst/>
          </a:prstGeom>
          <a:solidFill>
            <a:srgbClr val="141C2E"/>
          </a:solidFill>
          <a:ln w="19050">
            <a:solidFill>
              <a:srgbClr val="00D9A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4040" y="1965960"/>
            <a:ext cx="2468880" cy="109728"/>
          </a:xfrm>
          <a:prstGeom prst="rect">
            <a:avLst/>
          </a:prstGeom>
          <a:solidFill>
            <a:srgbClr val="00D9A3"/>
          </a:solidFill>
          <a:ln/>
        </p:spPr>
      </p:sp>
      <p:sp>
        <p:nvSpPr>
          <p:cNvPr id="9" name="Text 7"/>
          <p:cNvSpPr/>
          <p:nvPr/>
        </p:nvSpPr>
        <p:spPr>
          <a:xfrm>
            <a:off x="911200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1200" y="28346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≥4 evidências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≥2 tipos de fonte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98952" y="1965960"/>
            <a:ext cx="2468880" cy="1828800"/>
          </a:xfrm>
          <a:prstGeom prst="rect">
            <a:avLst/>
          </a:prstGeom>
          <a:solidFill>
            <a:srgbClr val="141C2E"/>
          </a:solidFill>
          <a:ln w="19050">
            <a:solidFill>
              <a:srgbClr val="7BC0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98952" y="1965960"/>
            <a:ext cx="2468880" cy="109728"/>
          </a:xfrm>
          <a:prstGeom prst="rect">
            <a:avLst/>
          </a:prstGeom>
          <a:solidFill>
            <a:srgbClr val="7BC063"/>
          </a:solidFill>
          <a:ln/>
        </p:spPr>
      </p:sp>
      <p:sp>
        <p:nvSpPr>
          <p:cNvPr id="13" name="Text 11"/>
          <p:cNvSpPr/>
          <p:nvPr/>
        </p:nvSpPr>
        <p:spPr>
          <a:xfrm>
            <a:off x="3636112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BC0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MÉDIO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6112" y="28346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evidências,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≥4 com 1 tipo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23864" y="1965960"/>
            <a:ext cx="2468880" cy="1828800"/>
          </a:xfrm>
          <a:prstGeom prst="rect">
            <a:avLst/>
          </a:prstGeom>
          <a:solidFill>
            <a:srgbClr val="141C2E"/>
          </a:solidFill>
          <a:ln w="19050">
            <a:solidFill>
              <a:srgbClr val="F5A62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23864" y="1965960"/>
            <a:ext cx="2468880" cy="10972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6361024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BAIXO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61024" y="28346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evidência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948776" y="1965960"/>
            <a:ext cx="2468880" cy="1828800"/>
          </a:xfrm>
          <a:prstGeom prst="rect">
            <a:avLst/>
          </a:prstGeom>
          <a:solidFill>
            <a:srgbClr val="141C2E"/>
          </a:solidFill>
          <a:ln w="19050">
            <a:solidFill>
              <a:srgbClr val="8CA0A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48776" y="1965960"/>
            <a:ext cx="2468880" cy="109728"/>
          </a:xfrm>
          <a:prstGeom prst="rect">
            <a:avLst/>
          </a:prstGeom>
          <a:solidFill>
            <a:srgbClr val="8CA0A8"/>
          </a:solidFill>
          <a:ln/>
        </p:spPr>
      </p:sp>
      <p:sp>
        <p:nvSpPr>
          <p:cNvPr id="21" name="Text 19"/>
          <p:cNvSpPr/>
          <p:nvPr/>
        </p:nvSpPr>
        <p:spPr>
          <a:xfrm>
            <a:off x="9085936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INFERÊNCIA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085936" y="28346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evidências —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marcado explicitamente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343400"/>
            <a:ext cx="10911535" cy="105156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4599432"/>
            <a:ext cx="548640" cy="54864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4720133"/>
            <a:ext cx="307238" cy="30723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645920" y="4480560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Sintetizador só pode </a:t>
            </a:r>
            <a:pPr indent="0" marL="0">
              <a:buNone/>
            </a:pPr>
            <a:r>
              <a:rPr lang="en-US" sz="13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citar</a:t>
            </a:r>
            <a:pPr indent="0" marL="0">
              <a:buNone/>
            </a:pPr>
            <a:r>
              <a:rPr lang="en-US" sz="13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evidências. Um módulo separado, puro e testado </a:t>
            </a:r>
            <a:pPr indent="0" marL="0">
              <a:buNone/>
            </a:pPr>
            <a:r>
              <a:rPr lang="en-US" sz="135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 testes unitários)</a:t>
            </a:r>
            <a:pPr indent="0" marL="0">
              <a:buNone/>
            </a:pPr>
            <a:r>
              <a:rPr lang="en-US" sz="13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calcula o grau — e rebaixa para inferência qualquer citação de id inexistente.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COLETA DE EVIDÊNCIAS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perguntas concorrentes, 5 tipos de fonte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Perspectivas (estilo STORM) — rodam em paralelo: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4846320" cy="438912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24028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4846320" cy="438912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74320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Econômica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4846320" cy="438912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24612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749040"/>
            <a:ext cx="4846320" cy="438912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74904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 rot="5400000">
            <a:off x="2935224" y="4288536"/>
            <a:ext cx="256032" cy="219456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" y="4599432"/>
            <a:ext cx="4846320" cy="502920"/>
          </a:xfrm>
          <a:prstGeom prst="rect">
            <a:avLst/>
          </a:prstGeom>
          <a:solidFill>
            <a:srgbClr val="12332C"/>
          </a:solidFill>
          <a:ln w="12700">
            <a:solidFill>
              <a:srgbClr val="00D9A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5994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evidências deduplicado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1937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no spike: ~30s/pergunta — concorrência é obrigatória p/ caber em 5 min (SC-001).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fonte cobertos: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228600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944" y="2386584"/>
            <a:ext cx="256032" cy="256032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931152" y="2258568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Científica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931152" y="2532888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arXiv, OpenAlex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309360" y="2907792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3008376"/>
            <a:ext cx="256032" cy="256032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931152" y="2880360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931152" y="3154680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consultorias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309360" y="3529584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630168"/>
            <a:ext cx="256032" cy="256032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931152" y="3502152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6931152" y="3776472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imprensa especializada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6309360" y="4151376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4251960"/>
            <a:ext cx="256032" cy="25603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931152" y="4123944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Corporativa</a:t>
            </a:r>
            <a:endParaRPr lang="en-US" sz="1500" dirty="0"/>
          </a:p>
        </p:txBody>
      </p:sp>
      <p:sp>
        <p:nvSpPr>
          <p:cNvPr id="33" name="Text 27"/>
          <p:cNvSpPr/>
          <p:nvPr/>
        </p:nvSpPr>
        <p:spPr>
          <a:xfrm>
            <a:off x="6931152" y="4398264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6309360" y="4773168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9944" y="4873752"/>
            <a:ext cx="256032" cy="25603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6931152" y="4745736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Patente</a:t>
            </a:r>
            <a:endParaRPr lang="en-US" sz="1500" dirty="0"/>
          </a:p>
        </p:txBody>
      </p:sp>
      <p:sp>
        <p:nvSpPr>
          <p:cNvPr id="37" name="Text 30"/>
          <p:cNvSpPr/>
          <p:nvPr/>
        </p:nvSpPr>
        <p:spPr>
          <a:xfrm>
            <a:off x="6931152" y="5020056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via busca</a:t>
            </a:r>
            <a:endParaRPr lang="en-US" sz="1200" dirty="0"/>
          </a:p>
        </p:txBody>
      </p:sp>
      <p:sp>
        <p:nvSpPr>
          <p:cNvPr id="38" name="Shape 31"/>
          <p:cNvSpPr/>
          <p:nvPr/>
        </p:nvSpPr>
        <p:spPr>
          <a:xfrm>
            <a:off x="640080" y="5742432"/>
            <a:ext cx="10911535" cy="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640080" y="58521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Shao et al., STORM — NAACL 2024, </a:t>
            </a:r>
            <a:pPr algn="ctr" indent="0" marL="0">
              <a:buNone/>
            </a:pPr>
            <a:r>
              <a:rPr lang="en-US" sz="1050" b="1" i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OVAL</a:t>
            </a:r>
            <a:pPr algn="ctr" indent="0" marL="0">
              <a:buNone/>
            </a:pPr>
            <a:r>
              <a:rPr lang="en-US" sz="10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(Open Virtual Assistant Lab). Adaptada, não importada — sem o framework `knowledge-storm`.</a:t>
            </a:r>
            <a:endParaRPr lang="en-US" sz="1050" dirty="0"/>
          </a:p>
        </p:txBody>
      </p:sp>
      <p:sp>
        <p:nvSpPr>
          <p:cNvPr id="40" name="Text 3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41" name="Text 3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DEMONSTRAÇÃO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sistema em funcionamento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3566160"/>
          </a:xfrm>
          <a:prstGeom prst="rect">
            <a:avLst/>
          </a:prstGeom>
          <a:solidFill>
            <a:srgbClr val="141C2E"/>
          </a:solidFill>
          <a:ln w="19050">
            <a:solidFill>
              <a:srgbClr val="00D9A3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730088" y="2880360"/>
            <a:ext cx="731520" cy="7315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2968" y="30632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703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inserir GIF de navegação pelo sistema aqui ]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55778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Gerar painel novo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368698" y="55778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Reabrir do histórico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97317" y="55778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Explorar evidências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RESULTADOS REAIS — SMOKE TEST EM PRODUÇÃO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 2 temas do desafio, de ponta a ponta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27168" cy="374904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0312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27355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duração total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253664" y="274320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253664" y="327355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coletadas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14400" y="379476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432511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fonte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53664" y="379476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10/10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253664" y="432511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seções geradas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14400" y="4937760"/>
            <a:ext cx="4678528" cy="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07492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5148072"/>
            <a:ext cx="219456" cy="21945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371600" y="5074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SC-001 (≤5min)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482264" y="507492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5416" y="5148072"/>
            <a:ext cx="219456" cy="21945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939464" y="5074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SC-005 (≥3 tipos)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324448" y="1874520"/>
            <a:ext cx="5227168" cy="374904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6598768" y="210312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Robôs Humanoides p/ Indústria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6598768" y="274320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36,8s</a:t>
            </a:r>
            <a:endParaRPr lang="en-US" sz="3000" dirty="0"/>
          </a:p>
        </p:txBody>
      </p:sp>
      <p:sp>
        <p:nvSpPr>
          <p:cNvPr id="24" name="Text 20"/>
          <p:cNvSpPr/>
          <p:nvPr/>
        </p:nvSpPr>
        <p:spPr>
          <a:xfrm>
            <a:off x="6598768" y="327355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duração total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8938031" y="274320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</a:t>
            </a:r>
            <a:endParaRPr lang="en-US" sz="3000" dirty="0"/>
          </a:p>
        </p:txBody>
      </p:sp>
      <p:sp>
        <p:nvSpPr>
          <p:cNvPr id="26" name="Text 22"/>
          <p:cNvSpPr/>
          <p:nvPr/>
        </p:nvSpPr>
        <p:spPr>
          <a:xfrm>
            <a:off x="8938031" y="327355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coletadas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6598768" y="379476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000" dirty="0"/>
          </a:p>
        </p:txBody>
      </p:sp>
      <p:sp>
        <p:nvSpPr>
          <p:cNvPr id="28" name="Text 24"/>
          <p:cNvSpPr/>
          <p:nvPr/>
        </p:nvSpPr>
        <p:spPr>
          <a:xfrm>
            <a:off x="6598768" y="432511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fonte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8938031" y="379476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10/10</a:t>
            </a:r>
            <a:endParaRPr lang="en-US" sz="3000" dirty="0"/>
          </a:p>
        </p:txBody>
      </p:sp>
      <p:sp>
        <p:nvSpPr>
          <p:cNvPr id="30" name="Text 26"/>
          <p:cNvSpPr/>
          <p:nvPr/>
        </p:nvSpPr>
        <p:spPr>
          <a:xfrm>
            <a:off x="8938031" y="432511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seções geradas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6598768" y="4937760"/>
            <a:ext cx="4678528" cy="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598768" y="507492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1920" y="5148072"/>
            <a:ext cx="219456" cy="21945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7055968" y="5074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SC-001 (≤5min)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9166631" y="507492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783" y="5148072"/>
            <a:ext cx="219456" cy="21945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623831" y="5074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SC-005 (≥3 tipos)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39" name="Text 3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MATURIDADE DE ENGENHARIA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de 6 bugs reais — corrigidos antes da banca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697480"/>
            <a:ext cx="3393338" cy="242316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898648"/>
            <a:ext cx="457200" cy="45720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999232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3502152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malformado derrubava a coleta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405079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campo nulo do OpenAlex escapava sem tratamento e abortava a análise inteira.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" y="4773168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corrigido + teste de regressão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99178" y="2697480"/>
            <a:ext cx="3393338" cy="242316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27778" y="2898648"/>
            <a:ext cx="457200" cy="45720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362" y="2999232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27778" y="3502152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migrou para HTTPS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627778" y="405079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 não seguido pelo cliente HTTP — coleta acadêmica degradava 100% das vezes.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627778" y="4773168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corrigido + teste de regressão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158277" y="2697480"/>
            <a:ext cx="3393338" cy="242316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86877" y="2898648"/>
            <a:ext cx="457200" cy="45720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7461" y="2999232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86877" y="3502152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API não tratado na síntese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386877" y="405079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rate limit real do modelo escapava do orquestrador e travava o processo.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386877" y="4773168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corrigido + teste de regressão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640080" y="53949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Outros 3 vieram da revisão de código automatizada — lista completa em docs/critical-review.md. Nenhum apareceu em testes mockados, só contra APIs reais.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QUALIDADE DE IMPLEMENTAÇÃO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Documentação como maturidade de gestão do conhecimento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7862" y="1916582"/>
            <a:ext cx="190195" cy="19019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15568" y="1773936"/>
            <a:ext cx="5925312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README.md  </a:t>
            </a:r>
            <a:pPr indent="0" marL="0">
              <a:buNone/>
            </a:pPr>
            <a:r>
              <a:rPr lang="en-US" sz="11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visão geral, arquitetura em 1 parágrafo e quickstart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40080" y="2345436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862" y="2433218"/>
            <a:ext cx="190195" cy="19019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15568" y="2290572"/>
            <a:ext cx="5925312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docs/architecture.md  </a:t>
            </a:r>
            <a:pPr indent="0" marL="0">
              <a:buNone/>
            </a:pPr>
            <a:r>
              <a:rPr lang="en-US" sz="11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decisões técnicas e justificativas, com diagrama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40080" y="2862072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62" y="2949854"/>
            <a:ext cx="190195" cy="19019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15568" y="2807208"/>
            <a:ext cx="5925312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docs/critical-review.md  </a:t>
            </a:r>
            <a:pPr indent="0" marL="0">
              <a:buNone/>
            </a:pPr>
            <a:r>
              <a:rPr lang="en-US" sz="11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autoavaliação crítica contínua, achados reais datados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40080" y="3378708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862" y="3466490"/>
            <a:ext cx="190195" cy="19019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15568" y="3323844"/>
            <a:ext cx="5925312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infra/provision.md + RUNBOOK  </a:t>
            </a:r>
            <a:pPr indent="0" marL="0">
              <a:buNone/>
            </a:pPr>
            <a:r>
              <a:rPr lang="en-US" sz="11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provisionamento, deploy e operação passo a passo</a:t>
            </a:r>
            <a:endParaRPr lang="en-US" sz="1150" dirty="0"/>
          </a:p>
        </p:txBody>
      </p:sp>
      <p:sp>
        <p:nvSpPr>
          <p:cNvPr id="16" name="Shape 10"/>
          <p:cNvSpPr/>
          <p:nvPr/>
        </p:nvSpPr>
        <p:spPr>
          <a:xfrm>
            <a:off x="640080" y="3895344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862" y="3983126"/>
            <a:ext cx="190195" cy="19019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15568" y="3840480"/>
            <a:ext cx="5925312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Spec-Kit (constitution → spec → plan → tasks)  </a:t>
            </a:r>
            <a:pPr indent="0" marL="0">
              <a:buNone/>
            </a:pPr>
            <a:r>
              <a:rPr lang="en-US" sz="11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especificação formal e rastreável, não improvisada</a:t>
            </a:r>
            <a:endParaRPr lang="en-US" sz="1150" dirty="0"/>
          </a:p>
        </p:txBody>
      </p:sp>
      <p:sp>
        <p:nvSpPr>
          <p:cNvPr id="19" name="Shape 12"/>
          <p:cNvSpPr/>
          <p:nvPr/>
        </p:nvSpPr>
        <p:spPr>
          <a:xfrm>
            <a:off x="640080" y="441198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" y="4499762"/>
            <a:ext cx="190195" cy="190195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115568" y="4357116"/>
            <a:ext cx="5925312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de arguição + critérios de avaliação  </a:t>
            </a:r>
            <a:pPr indent="0" marL="0">
              <a:buNone/>
            </a:pPr>
            <a:r>
              <a:rPr lang="en-US" sz="11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material de defesa mapeado aos critérios da banca</a:t>
            </a:r>
            <a:endParaRPr lang="en-US" sz="1150" dirty="0"/>
          </a:p>
        </p:txBody>
      </p:sp>
      <p:sp>
        <p:nvSpPr>
          <p:cNvPr id="22" name="Shape 14"/>
          <p:cNvSpPr/>
          <p:nvPr/>
        </p:nvSpPr>
        <p:spPr>
          <a:xfrm>
            <a:off x="640080" y="4928616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862" y="5016398"/>
            <a:ext cx="190195" cy="190195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115568" y="4873752"/>
            <a:ext cx="5925312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Book (novo)  </a:t>
            </a:r>
            <a:pPr indent="0" marL="0">
              <a:buNone/>
            </a:pPr>
            <a:r>
              <a:rPr lang="en-US" sz="11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referência única do projeto para quem herdar ou avaliar</a:t>
            </a:r>
            <a:endParaRPr lang="en-US" sz="1150" dirty="0"/>
          </a:p>
        </p:txBody>
      </p:sp>
      <p:sp>
        <p:nvSpPr>
          <p:cNvPr id="25" name="Shape 16"/>
          <p:cNvSpPr/>
          <p:nvPr/>
        </p:nvSpPr>
        <p:spPr>
          <a:xfrm>
            <a:off x="7360920" y="1828800"/>
            <a:ext cx="4190695" cy="3570732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Shape 17"/>
          <p:cNvSpPr/>
          <p:nvPr/>
        </p:nvSpPr>
        <p:spPr>
          <a:xfrm>
            <a:off x="7635240" y="2084832"/>
            <a:ext cx="548640" cy="54864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5941" y="2205533"/>
            <a:ext cx="307238" cy="30723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321040" y="2103120"/>
            <a:ext cx="3001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 de conhecimento</a:t>
            </a:r>
            <a:endParaRPr lang="en-US" sz="1400" dirty="0"/>
          </a:p>
        </p:txBody>
      </p:sp>
      <p:sp>
        <p:nvSpPr>
          <p:cNvPr id="29" name="Text 19"/>
          <p:cNvSpPr/>
          <p:nvPr/>
        </p:nvSpPr>
        <p:spPr>
          <a:xfrm>
            <a:off x="8321040" y="2395728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Inovação — não um markdown a mais</a:t>
            </a:r>
            <a:endParaRPr lang="en-US" sz="1050" dirty="0"/>
          </a:p>
        </p:txBody>
      </p:sp>
      <p:sp>
        <p:nvSpPr>
          <p:cNvPr id="30" name="Text 20"/>
          <p:cNvSpPr/>
          <p:nvPr/>
        </p:nvSpPr>
        <p:spPr>
          <a:xfrm>
            <a:off x="7635240" y="2880360"/>
            <a:ext cx="3642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194 nós · 334 arestas · 9 camadas · 15 passos guiados</a:t>
            </a:r>
            <a:endParaRPr lang="en-US" sz="1250" dirty="0"/>
          </a:p>
        </p:txBody>
      </p:sp>
      <p:sp>
        <p:nvSpPr>
          <p:cNvPr id="31" name="Text 21"/>
          <p:cNvSpPr/>
          <p:nvPr/>
        </p:nvSpPr>
        <p:spPr>
          <a:xfrm>
            <a:off x="7635240" y="3337560"/>
            <a:ext cx="3642055" cy="1970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Extraído automaticamente do código-fonte real via IA — documentação viva que nunca fica desatualizada, navegável por um tour guiado interativo. Pouco comum neste tipo de projeto.</a:t>
            </a:r>
            <a:endParaRPr lang="en-US" sz="1100" dirty="0"/>
          </a:p>
        </p:txBody>
      </p:sp>
      <p:sp>
        <p:nvSpPr>
          <p:cNvPr id="32" name="Shape 22"/>
          <p:cNvSpPr/>
          <p:nvPr/>
        </p:nvSpPr>
        <p:spPr>
          <a:xfrm>
            <a:off x="640080" y="5582412"/>
            <a:ext cx="10911535" cy="77724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914400" y="5719572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5042" y="5830214"/>
            <a:ext cx="281635" cy="28163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1600200" y="5637276"/>
            <a:ext cx="967709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Práticas seguidas: </a:t>
            </a:r>
            <a:pPr indent="0" marL="0">
              <a:buNone/>
            </a:pPr>
            <a:r>
              <a:rPr lang="en-US" sz="11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(Spec-Kit) · decisões registradas com justificativa (estilo ADR) · revisão crítica contínua com achados reais datados · versionamento semântico via git.</a:t>
            </a:r>
            <a:endParaRPr lang="en-US" sz="1150" dirty="0"/>
          </a:p>
        </p:txBody>
      </p:sp>
      <p:sp>
        <p:nvSpPr>
          <p:cNvPr id="36" name="Text 25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37" name="Text 2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AVALIAÇÃO CRÍTICA — CUSTOS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que custa operar isso de verdade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21323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69748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~US$14-15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914400" y="333756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fixo por mês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(App Service + Cosmos)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2011680"/>
            <a:ext cx="548640" cy="54864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581" y="213238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54880" y="269748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~US$0,20-0,50</a:t>
            </a:r>
            <a:endParaRPr lang="en-US" sz="2700" dirty="0"/>
          </a:p>
        </p:txBody>
      </p:sp>
      <p:sp>
        <p:nvSpPr>
          <p:cNvPr id="11" name="Text 7"/>
          <p:cNvSpPr/>
          <p:nvPr/>
        </p:nvSpPr>
        <p:spPr>
          <a:xfrm>
            <a:off x="4754880" y="333756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análise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(tokens + busca)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732520" y="1874520"/>
            <a:ext cx="2819095" cy="246888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961120" y="2057400"/>
            <a:ext cx="236189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B1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 serverless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/ Web Search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token e por chamada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40080" y="4663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exato pendente de confirmação via Azure Cost Management — estimativa declarada, não inventada.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AVALIAÇÃO CRÍTICA — VIESES E LIMITAÇÕES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que sabemos que não resolvemos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211226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61872" y="1984248"/>
            <a:ext cx="455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Viés de fonte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261872" y="2258568"/>
            <a:ext cx="455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Consultorias pagas só entram pelo material público que elas divulgam.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3483864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61872" y="3355848"/>
            <a:ext cx="455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Viés de idioma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261872" y="3630168"/>
            <a:ext cx="455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predominantemente em inglês; painel sempre em português.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370168" y="20116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752" y="2112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91960" y="1984248"/>
            <a:ext cx="455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Viés de modelo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991960" y="2258568"/>
            <a:ext cx="455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Mitigado: só afirma com citação; grau nunca é autoavaliado pelo LLM.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370168" y="33832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0752" y="3483864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91960" y="3355848"/>
            <a:ext cx="455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Patentes sem API dedicada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6991960" y="3630168"/>
            <a:ext cx="455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Cobertas só por sinais via busca — EPO OPS avaliada e adiada por prazo.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40080" y="5074920"/>
            <a:ext cx="10911535" cy="96012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914400" y="5285232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042" y="5395874"/>
            <a:ext cx="281635" cy="28163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600200" y="5184648"/>
            <a:ext cx="9677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viés aqui é “resolvido” — são mitigados por desenho (citação obrigatória, graduação em código) e documentados honestamente para a arguição.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PRÓXIMOS PASSOS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Evoluções priorizadas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1962851" cy="21031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92906" y="324612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3346704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913632"/>
            <a:ext cx="17799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Co-STORM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4389120"/>
            <a:ext cx="177997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Melhora coleta e síntese — agentes colaborativos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77251" y="3017520"/>
            <a:ext cx="1962851" cy="21031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30077" y="324612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661" y="334670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68691" y="3913632"/>
            <a:ext cx="17799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Patentes dedicadas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968691" y="4389120"/>
            <a:ext cx="177997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EPO OPS — cobertura mundial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114422" y="3017520"/>
            <a:ext cx="1962851" cy="21031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867248" y="324612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832" y="334670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205862" y="3913632"/>
            <a:ext cx="17799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Multiusuário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205862" y="4389120"/>
            <a:ext cx="177997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Auth / Entra ID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7351593" y="3017520"/>
            <a:ext cx="1962851" cy="21031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104419" y="324612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5003" y="3346704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43033" y="3913632"/>
            <a:ext cx="17799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contínuo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7443033" y="4389120"/>
            <a:ext cx="177997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Functions com timer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9588764" y="3017520"/>
            <a:ext cx="1962851" cy="21031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10341590" y="324612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2174" y="3346704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680204" y="3913632"/>
            <a:ext cx="17799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Observabilidade de custo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9680204" y="4389120"/>
            <a:ext cx="177997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Insights por consulta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FUTURO — IA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39151" y="-3621024"/>
            <a:ext cx="7607808" cy="7607808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56400" y="-2403775"/>
            <a:ext cx="5173309" cy="5173309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97572" y="-1262604"/>
            <a:ext cx="2890967" cy="2890967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2084832" y="3675888"/>
            <a:ext cx="5266944" cy="5266944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1242121" y="4518599"/>
            <a:ext cx="3581522" cy="3581522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452079" y="5308641"/>
            <a:ext cx="2001439" cy="2001439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38648" y="1920240"/>
            <a:ext cx="914400" cy="9144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212598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0" y="306324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Obrigado.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Perguntas, críticas e sugestões são bem-vindas.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947008" y="4709160"/>
            <a:ext cx="365760" cy="36576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0160" y="4782312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04208" y="4709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github.com/Carlosaaajr/radar-tendencias-tecnologicas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Radar de Tendências Tecnológicas</dc:title>
  <dc:subject>PptxGenJS Presentation</dc:subject>
  <dc:creator>Carlos Araújo Jr.</dc:creator>
  <cp:lastModifiedBy>Carlos Araújo Jr.</cp:lastModifiedBy>
  <cp:revision>1</cp:revision>
  <dcterms:created xsi:type="dcterms:W3CDTF">2026-07-07T14:58:09Z</dcterms:created>
  <dcterms:modified xsi:type="dcterms:W3CDTF">2026-07-07T14:58:09Z</dcterms:modified>
</cp:coreProperties>
</file>